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53" r:id="rId3"/>
  </p:sldMasterIdLst>
  <p:sldIdLst>
    <p:sldId id="256" r:id="rId4"/>
    <p:sldId id="304" r:id="rId5"/>
    <p:sldId id="269" r:id="rId6"/>
    <p:sldId id="292" r:id="rId7"/>
    <p:sldId id="261" r:id="rId8"/>
    <p:sldId id="278" r:id="rId9"/>
    <p:sldId id="265" r:id="rId10"/>
    <p:sldId id="312" r:id="rId11"/>
    <p:sldId id="313" r:id="rId12"/>
    <p:sldId id="314" r:id="rId13"/>
    <p:sldId id="307" r:id="rId14"/>
    <p:sldId id="308" r:id="rId15"/>
    <p:sldId id="309" r:id="rId16"/>
    <p:sldId id="310" r:id="rId17"/>
    <p:sldId id="270" r:id="rId18"/>
    <p:sldId id="262" r:id="rId19"/>
    <p:sldId id="290" r:id="rId20"/>
    <p:sldId id="311" r:id="rId21"/>
    <p:sldId id="287" r:id="rId22"/>
    <p:sldId id="305" r:id="rId23"/>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5569"/>
    <a:srgbClr val="4D7C80"/>
    <a:srgbClr val="85D8DE"/>
    <a:srgbClr val="17375E"/>
    <a:srgbClr val="B9EDFF"/>
    <a:srgbClr val="CCFFFF"/>
    <a:srgbClr val="9179EB"/>
    <a:srgbClr val="3D45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636" autoAdjust="0"/>
  </p:normalViewPr>
  <p:slideViewPr>
    <p:cSldViewPr>
      <p:cViewPr varScale="1">
        <p:scale>
          <a:sx n="103" d="100"/>
          <a:sy n="103" d="100"/>
        </p:scale>
        <p:origin x="782"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8FD3D57-F3BB-4E5E-B091-1500A3C92E81}" type="doc">
      <dgm:prSet loTypeId="urn:microsoft.com/office/officeart/2005/8/layout/pyramid1" loCatId="pyramid" qsTypeId="urn:microsoft.com/office/officeart/2005/8/quickstyle/simple1" qsCatId="simple" csTypeId="urn:microsoft.com/office/officeart/2005/8/colors/accent1_2" csCatId="accent1" phldr="1"/>
      <dgm:spPr/>
    </dgm:pt>
    <dgm:pt modelId="{E924DC90-2427-4BE5-A522-6ACD4563EB45}">
      <dgm:prSet phldrT="[Text]" custT="1"/>
      <dgm:spPr>
        <a:solidFill>
          <a:schemeClr val="accent1">
            <a:lumMod val="50000"/>
          </a:schemeClr>
        </a:solidFill>
        <a:ln>
          <a:solidFill>
            <a:schemeClr val="bg1">
              <a:lumMod val="95000"/>
            </a:schemeClr>
          </a:solidFill>
        </a:ln>
      </dgm:spPr>
      <dgm:t>
        <a:bodyPr anchor="ctr"/>
        <a:lstStyle/>
        <a:p>
          <a:pPr algn="ctr"/>
          <a:r>
            <a:rPr lang="en-US" altLang="ko-KR" sz="1600" b="1" dirty="0">
              <a:solidFill>
                <a:schemeClr val="bg1"/>
              </a:solidFill>
              <a:latin typeface="Arial" pitchFamily="34" charset="0"/>
              <a:cs typeface="Arial" pitchFamily="34" charset="0"/>
            </a:rPr>
            <a:t>A</a:t>
          </a:r>
          <a:endParaRPr lang="en-JM" sz="1600" b="1" dirty="0">
            <a:solidFill>
              <a:schemeClr val="bg1"/>
            </a:solidFill>
            <a:latin typeface="Arial" pitchFamily="34" charset="0"/>
            <a:cs typeface="Arial" pitchFamily="34" charset="0"/>
          </a:endParaRPr>
        </a:p>
      </dgm:t>
    </dgm:pt>
    <dgm:pt modelId="{9E545862-1292-4DB6-B36C-D6247532E625}" type="parTrans" cxnId="{685D1073-2D3C-412E-A123-0EF4D596743E}">
      <dgm:prSet/>
      <dgm:spPr/>
      <dgm:t>
        <a:bodyPr/>
        <a:lstStyle/>
        <a:p>
          <a:endParaRPr lang="en-JM">
            <a:solidFill>
              <a:schemeClr val="bg1"/>
            </a:solidFill>
          </a:endParaRPr>
        </a:p>
      </dgm:t>
    </dgm:pt>
    <dgm:pt modelId="{BD5A33EB-119A-4BA7-8787-7DF55D1248BC}" type="sibTrans" cxnId="{685D1073-2D3C-412E-A123-0EF4D596743E}">
      <dgm:prSet/>
      <dgm:spPr/>
      <dgm:t>
        <a:bodyPr/>
        <a:lstStyle/>
        <a:p>
          <a:endParaRPr lang="en-JM">
            <a:solidFill>
              <a:schemeClr val="bg1"/>
            </a:solidFill>
          </a:endParaRPr>
        </a:p>
      </dgm:t>
    </dgm:pt>
    <dgm:pt modelId="{9D67B1F7-C4FF-4E1E-94F4-69209A4E7C47}">
      <dgm:prSet phldrT="[Text]" custT="1"/>
      <dgm:spPr>
        <a:solidFill>
          <a:schemeClr val="accent3"/>
        </a:solidFill>
        <a:ln>
          <a:solidFill>
            <a:schemeClr val="bg1">
              <a:lumMod val="95000"/>
            </a:schemeClr>
          </a:solidFill>
        </a:ln>
      </dgm:spPr>
      <dgm:t>
        <a:bodyPr anchor="ctr"/>
        <a:lstStyle/>
        <a:p>
          <a:pPr algn="ctr"/>
          <a:r>
            <a:rPr lang="en-US" altLang="ko-KR" sz="1600" b="1" dirty="0">
              <a:solidFill>
                <a:schemeClr val="bg1"/>
              </a:solidFill>
              <a:latin typeface="Arial" pitchFamily="34" charset="0"/>
              <a:cs typeface="Arial" pitchFamily="34" charset="0"/>
            </a:rPr>
            <a:t>C</a:t>
          </a:r>
          <a:r>
            <a:rPr lang="ko-KR" altLang="en-US" sz="1600" b="1" dirty="0">
              <a:solidFill>
                <a:schemeClr val="bg1"/>
              </a:solidFill>
              <a:latin typeface="Arial" pitchFamily="34" charset="0"/>
              <a:cs typeface="Arial" pitchFamily="34" charset="0"/>
            </a:rPr>
            <a:t> </a:t>
          </a:r>
          <a:r>
            <a:rPr lang="en-US" altLang="ko-KR" sz="1600" b="1" dirty="0">
              <a:solidFill>
                <a:schemeClr val="bg1"/>
              </a:solidFill>
              <a:latin typeface="Arial" pitchFamily="34" charset="0"/>
              <a:cs typeface="Arial" pitchFamily="34" charset="0"/>
            </a:rPr>
            <a:t> </a:t>
          </a:r>
          <a:endParaRPr lang="en-JM" sz="1600" b="1" dirty="0">
            <a:solidFill>
              <a:schemeClr val="bg1"/>
            </a:solidFill>
            <a:latin typeface="Arial" pitchFamily="34" charset="0"/>
            <a:cs typeface="Arial" pitchFamily="34" charset="0"/>
          </a:endParaRPr>
        </a:p>
      </dgm:t>
    </dgm:pt>
    <dgm:pt modelId="{BD4D3042-AB5C-4E8F-B8BE-BC3A20988EB3}" type="parTrans" cxnId="{1263D722-8372-4789-B9F5-BFD8D9C870F1}">
      <dgm:prSet/>
      <dgm:spPr/>
      <dgm:t>
        <a:bodyPr/>
        <a:lstStyle/>
        <a:p>
          <a:endParaRPr lang="en-JM">
            <a:solidFill>
              <a:schemeClr val="bg1"/>
            </a:solidFill>
          </a:endParaRPr>
        </a:p>
      </dgm:t>
    </dgm:pt>
    <dgm:pt modelId="{B379D14A-425C-47B8-B779-1E5D839E4BC8}" type="sibTrans" cxnId="{1263D722-8372-4789-B9F5-BFD8D9C870F1}">
      <dgm:prSet/>
      <dgm:spPr/>
      <dgm:t>
        <a:bodyPr/>
        <a:lstStyle/>
        <a:p>
          <a:endParaRPr lang="en-JM">
            <a:solidFill>
              <a:schemeClr val="bg1"/>
            </a:solidFill>
          </a:endParaRPr>
        </a:p>
      </dgm:t>
    </dgm:pt>
    <dgm:pt modelId="{53563D61-A301-4644-8AE7-FCAFDA9A58AB}">
      <dgm:prSet phldrT="[Text]" custT="1"/>
      <dgm:spPr>
        <a:solidFill>
          <a:schemeClr val="accent4">
            <a:lumMod val="60000"/>
            <a:lumOff val="40000"/>
          </a:schemeClr>
        </a:solidFill>
        <a:ln>
          <a:solidFill>
            <a:schemeClr val="bg1">
              <a:lumMod val="95000"/>
            </a:schemeClr>
          </a:solidFill>
        </a:ln>
      </dgm:spPr>
      <dgm:t>
        <a:bodyPr anchor="ctr"/>
        <a:lstStyle/>
        <a:p>
          <a:pPr algn="ctr"/>
          <a:r>
            <a:rPr lang="en-US" altLang="ko-KR" sz="1600" b="1" dirty="0">
              <a:solidFill>
                <a:schemeClr val="bg1"/>
              </a:solidFill>
              <a:latin typeface="Arial" pitchFamily="34" charset="0"/>
              <a:cs typeface="Arial" pitchFamily="34" charset="0"/>
            </a:rPr>
            <a:t>D</a:t>
          </a:r>
          <a:r>
            <a:rPr lang="ko-KR" altLang="en-US" sz="1600" b="1" dirty="0">
              <a:solidFill>
                <a:schemeClr val="bg1"/>
              </a:solidFill>
              <a:latin typeface="Arial" pitchFamily="34" charset="0"/>
              <a:cs typeface="Arial" pitchFamily="34" charset="0"/>
            </a:rPr>
            <a:t> </a:t>
          </a:r>
          <a:r>
            <a:rPr lang="en-US" altLang="ko-KR" sz="1600" b="1" dirty="0">
              <a:solidFill>
                <a:schemeClr val="bg1"/>
              </a:solidFill>
              <a:latin typeface="Arial" pitchFamily="34" charset="0"/>
              <a:cs typeface="Arial" pitchFamily="34" charset="0"/>
            </a:rPr>
            <a:t> </a:t>
          </a:r>
          <a:endParaRPr lang="en-JM" sz="1600" b="1" dirty="0">
            <a:solidFill>
              <a:schemeClr val="bg1"/>
            </a:solidFill>
            <a:latin typeface="Arial" pitchFamily="34" charset="0"/>
            <a:cs typeface="Arial" pitchFamily="34" charset="0"/>
          </a:endParaRPr>
        </a:p>
      </dgm:t>
    </dgm:pt>
    <dgm:pt modelId="{B60323EE-B859-4184-88BB-62221AE106AB}" type="parTrans" cxnId="{F3697A49-7026-40CE-A2B9-71761A0223E3}">
      <dgm:prSet/>
      <dgm:spPr/>
      <dgm:t>
        <a:bodyPr/>
        <a:lstStyle/>
        <a:p>
          <a:endParaRPr lang="en-JM">
            <a:solidFill>
              <a:schemeClr val="bg1"/>
            </a:solidFill>
          </a:endParaRPr>
        </a:p>
      </dgm:t>
    </dgm:pt>
    <dgm:pt modelId="{426A8813-506E-429E-87DB-53AA3F5535D1}" type="sibTrans" cxnId="{F3697A49-7026-40CE-A2B9-71761A0223E3}">
      <dgm:prSet/>
      <dgm:spPr/>
      <dgm:t>
        <a:bodyPr/>
        <a:lstStyle/>
        <a:p>
          <a:endParaRPr lang="en-JM">
            <a:solidFill>
              <a:schemeClr val="bg1"/>
            </a:solidFill>
          </a:endParaRPr>
        </a:p>
      </dgm:t>
    </dgm:pt>
    <dgm:pt modelId="{9BC44171-365F-452D-AE92-EBE2E89770BA}">
      <dgm:prSet phldrT="[Text]" custT="1"/>
      <dgm:spPr>
        <a:solidFill>
          <a:schemeClr val="accent5">
            <a:lumMod val="40000"/>
            <a:lumOff val="60000"/>
          </a:schemeClr>
        </a:solidFill>
        <a:ln>
          <a:solidFill>
            <a:schemeClr val="bg1">
              <a:lumMod val="95000"/>
            </a:schemeClr>
          </a:solidFill>
        </a:ln>
      </dgm:spPr>
      <dgm:t>
        <a:bodyPr anchor="ctr"/>
        <a:lstStyle/>
        <a:p>
          <a:pPr algn="ctr"/>
          <a:r>
            <a:rPr lang="en-US" altLang="ko-KR" sz="1600" b="1" dirty="0">
              <a:solidFill>
                <a:schemeClr val="bg1"/>
              </a:solidFill>
              <a:latin typeface="Arial" pitchFamily="34" charset="0"/>
              <a:cs typeface="Arial" pitchFamily="34" charset="0"/>
            </a:rPr>
            <a:t>E</a:t>
          </a:r>
          <a:r>
            <a:rPr lang="ko-KR" altLang="en-US" sz="1600" b="1" dirty="0">
              <a:solidFill>
                <a:schemeClr val="bg1"/>
              </a:solidFill>
              <a:latin typeface="Arial" pitchFamily="34" charset="0"/>
              <a:cs typeface="Arial" pitchFamily="34" charset="0"/>
            </a:rPr>
            <a:t> </a:t>
          </a:r>
          <a:r>
            <a:rPr lang="en-US" altLang="ko-KR" sz="1600" b="1" dirty="0">
              <a:solidFill>
                <a:schemeClr val="bg1"/>
              </a:solidFill>
              <a:latin typeface="Arial" pitchFamily="34" charset="0"/>
              <a:cs typeface="Arial" pitchFamily="34" charset="0"/>
            </a:rPr>
            <a:t> </a:t>
          </a:r>
          <a:endParaRPr lang="en-JM" sz="1600" b="1" dirty="0">
            <a:solidFill>
              <a:schemeClr val="bg1"/>
            </a:solidFill>
            <a:latin typeface="Arial" pitchFamily="34" charset="0"/>
            <a:cs typeface="Arial" pitchFamily="34" charset="0"/>
          </a:endParaRPr>
        </a:p>
      </dgm:t>
    </dgm:pt>
    <dgm:pt modelId="{7679D3FA-0101-42D1-A23D-75BD8EF1DA28}" type="parTrans" cxnId="{15D8F364-6809-49BA-A228-EAE95F4BE6B9}">
      <dgm:prSet/>
      <dgm:spPr/>
      <dgm:t>
        <a:bodyPr/>
        <a:lstStyle/>
        <a:p>
          <a:endParaRPr lang="en-JM">
            <a:solidFill>
              <a:schemeClr val="bg1"/>
            </a:solidFill>
          </a:endParaRPr>
        </a:p>
      </dgm:t>
    </dgm:pt>
    <dgm:pt modelId="{FF5F2014-EE5D-4FD1-9103-39F792365AE5}" type="sibTrans" cxnId="{15D8F364-6809-49BA-A228-EAE95F4BE6B9}">
      <dgm:prSet/>
      <dgm:spPr/>
      <dgm:t>
        <a:bodyPr/>
        <a:lstStyle/>
        <a:p>
          <a:endParaRPr lang="en-JM">
            <a:solidFill>
              <a:schemeClr val="bg1"/>
            </a:solidFill>
          </a:endParaRPr>
        </a:p>
      </dgm:t>
    </dgm:pt>
    <dgm:pt modelId="{85631E1F-364A-4A2A-9989-E896E5049557}">
      <dgm:prSet phldrT="[Text]" custT="1"/>
      <dgm:spPr>
        <a:solidFill>
          <a:schemeClr val="accent2">
            <a:lumMod val="75000"/>
          </a:schemeClr>
        </a:solidFill>
        <a:ln>
          <a:solidFill>
            <a:schemeClr val="bg1">
              <a:lumMod val="95000"/>
            </a:schemeClr>
          </a:solidFill>
        </a:ln>
      </dgm:spPr>
      <dgm:t>
        <a:bodyPr anchor="ctr"/>
        <a:lstStyle/>
        <a:p>
          <a:pPr algn="ctr"/>
          <a:r>
            <a:rPr lang="en-US" altLang="ko-KR" sz="1600" b="1" dirty="0">
              <a:solidFill>
                <a:schemeClr val="bg1"/>
              </a:solidFill>
              <a:latin typeface="Arial" pitchFamily="34" charset="0"/>
              <a:cs typeface="Arial" pitchFamily="34" charset="0"/>
            </a:rPr>
            <a:t>B</a:t>
          </a:r>
          <a:r>
            <a:rPr lang="ko-KR" altLang="en-US" sz="1600" b="1" dirty="0">
              <a:solidFill>
                <a:schemeClr val="bg1"/>
              </a:solidFill>
              <a:latin typeface="Arial" pitchFamily="34" charset="0"/>
              <a:cs typeface="Arial" pitchFamily="34" charset="0"/>
            </a:rPr>
            <a:t> </a:t>
          </a:r>
          <a:r>
            <a:rPr lang="en-US" altLang="ko-KR" sz="1600" b="1" dirty="0">
              <a:solidFill>
                <a:schemeClr val="bg1"/>
              </a:solidFill>
              <a:latin typeface="Arial" pitchFamily="34" charset="0"/>
              <a:cs typeface="Arial" pitchFamily="34" charset="0"/>
            </a:rPr>
            <a:t> </a:t>
          </a:r>
          <a:endParaRPr lang="en-JM" sz="1600" b="1" dirty="0">
            <a:solidFill>
              <a:schemeClr val="bg1"/>
            </a:solidFill>
            <a:latin typeface="Arial" pitchFamily="34" charset="0"/>
            <a:cs typeface="Arial" pitchFamily="34" charset="0"/>
          </a:endParaRPr>
        </a:p>
      </dgm:t>
    </dgm:pt>
    <dgm:pt modelId="{EBE3CA2F-C22D-4DAD-BBB2-CC29F3FBCF68}" type="parTrans" cxnId="{689B59B0-BF9D-489D-8A96-D6B2CF499ABF}">
      <dgm:prSet/>
      <dgm:spPr/>
      <dgm:t>
        <a:bodyPr/>
        <a:lstStyle/>
        <a:p>
          <a:pPr latinLnBrk="1"/>
          <a:endParaRPr lang="ko-KR" altLang="en-US"/>
        </a:p>
      </dgm:t>
    </dgm:pt>
    <dgm:pt modelId="{DC75A793-C6A2-4960-947A-450C2653BBC6}" type="sibTrans" cxnId="{689B59B0-BF9D-489D-8A96-D6B2CF499ABF}">
      <dgm:prSet/>
      <dgm:spPr/>
      <dgm:t>
        <a:bodyPr/>
        <a:lstStyle/>
        <a:p>
          <a:pPr latinLnBrk="1"/>
          <a:endParaRPr lang="ko-KR" altLang="en-US"/>
        </a:p>
      </dgm:t>
    </dgm:pt>
    <dgm:pt modelId="{6346E340-6B27-47A2-93A8-AA7F0249167F}" type="pres">
      <dgm:prSet presAssocID="{28FD3D57-F3BB-4E5E-B091-1500A3C92E81}" presName="Name0" presStyleCnt="0">
        <dgm:presLayoutVars>
          <dgm:dir/>
          <dgm:animLvl val="lvl"/>
          <dgm:resizeHandles val="exact"/>
        </dgm:presLayoutVars>
      </dgm:prSet>
      <dgm:spPr/>
    </dgm:pt>
    <dgm:pt modelId="{8351BCDF-D287-464A-AB10-4261CFFC4E79}" type="pres">
      <dgm:prSet presAssocID="{E924DC90-2427-4BE5-A522-6ACD4563EB45}" presName="Name8" presStyleCnt="0"/>
      <dgm:spPr/>
    </dgm:pt>
    <dgm:pt modelId="{864F954D-81D4-4546-B08E-448FBA7A18FE}" type="pres">
      <dgm:prSet presAssocID="{E924DC90-2427-4BE5-A522-6ACD4563EB45}" presName="level" presStyleLbl="node1" presStyleIdx="0" presStyleCnt="5" custScaleX="98552" custScaleY="139063">
        <dgm:presLayoutVars>
          <dgm:chMax val="1"/>
          <dgm:bulletEnabled val="1"/>
        </dgm:presLayoutVars>
      </dgm:prSet>
      <dgm:spPr/>
    </dgm:pt>
    <dgm:pt modelId="{A8AE7F33-3372-4D78-96A6-FD2B204E9D9D}" type="pres">
      <dgm:prSet presAssocID="{E924DC90-2427-4BE5-A522-6ACD4563EB45}" presName="levelTx" presStyleLbl="revTx" presStyleIdx="0" presStyleCnt="0">
        <dgm:presLayoutVars>
          <dgm:chMax val="1"/>
          <dgm:bulletEnabled val="1"/>
        </dgm:presLayoutVars>
      </dgm:prSet>
      <dgm:spPr/>
    </dgm:pt>
    <dgm:pt modelId="{45295FEF-34B7-47B0-80DB-E881F25871A9}" type="pres">
      <dgm:prSet presAssocID="{85631E1F-364A-4A2A-9989-E896E5049557}" presName="Name8" presStyleCnt="0"/>
      <dgm:spPr/>
    </dgm:pt>
    <dgm:pt modelId="{3CE8FECB-ADC6-4195-8C29-ECF1EEE9F8FA}" type="pres">
      <dgm:prSet presAssocID="{85631E1F-364A-4A2A-9989-E896E5049557}" presName="level" presStyleLbl="node1" presStyleIdx="1" presStyleCnt="5">
        <dgm:presLayoutVars>
          <dgm:chMax val="1"/>
          <dgm:bulletEnabled val="1"/>
        </dgm:presLayoutVars>
      </dgm:prSet>
      <dgm:spPr/>
    </dgm:pt>
    <dgm:pt modelId="{DC549F7C-7B63-4EBA-944C-0C5CAC570546}" type="pres">
      <dgm:prSet presAssocID="{85631E1F-364A-4A2A-9989-E896E5049557}" presName="levelTx" presStyleLbl="revTx" presStyleIdx="0" presStyleCnt="0">
        <dgm:presLayoutVars>
          <dgm:chMax val="1"/>
          <dgm:bulletEnabled val="1"/>
        </dgm:presLayoutVars>
      </dgm:prSet>
      <dgm:spPr/>
    </dgm:pt>
    <dgm:pt modelId="{BF7100C5-692A-476D-9242-E6DE2BFA407E}" type="pres">
      <dgm:prSet presAssocID="{9D67B1F7-C4FF-4E1E-94F4-69209A4E7C47}" presName="Name8" presStyleCnt="0"/>
      <dgm:spPr/>
    </dgm:pt>
    <dgm:pt modelId="{753AA43A-5097-42D8-A3EF-20B11215D8F3}" type="pres">
      <dgm:prSet presAssocID="{9D67B1F7-C4FF-4E1E-94F4-69209A4E7C47}" presName="level" presStyleLbl="node1" presStyleIdx="2" presStyleCnt="5">
        <dgm:presLayoutVars>
          <dgm:chMax val="1"/>
          <dgm:bulletEnabled val="1"/>
        </dgm:presLayoutVars>
      </dgm:prSet>
      <dgm:spPr/>
    </dgm:pt>
    <dgm:pt modelId="{7E617F38-6BB2-4E03-8198-FF7E7F898924}" type="pres">
      <dgm:prSet presAssocID="{9D67B1F7-C4FF-4E1E-94F4-69209A4E7C47}" presName="levelTx" presStyleLbl="revTx" presStyleIdx="0" presStyleCnt="0">
        <dgm:presLayoutVars>
          <dgm:chMax val="1"/>
          <dgm:bulletEnabled val="1"/>
        </dgm:presLayoutVars>
      </dgm:prSet>
      <dgm:spPr/>
    </dgm:pt>
    <dgm:pt modelId="{29C42FD2-6503-4F77-8487-9B33E0527141}" type="pres">
      <dgm:prSet presAssocID="{53563D61-A301-4644-8AE7-FCAFDA9A58AB}" presName="Name8" presStyleCnt="0"/>
      <dgm:spPr/>
    </dgm:pt>
    <dgm:pt modelId="{E6279944-4AC5-4561-B5D0-64EE0E57E695}" type="pres">
      <dgm:prSet presAssocID="{53563D61-A301-4644-8AE7-FCAFDA9A58AB}" presName="level" presStyleLbl="node1" presStyleIdx="3" presStyleCnt="5">
        <dgm:presLayoutVars>
          <dgm:chMax val="1"/>
          <dgm:bulletEnabled val="1"/>
        </dgm:presLayoutVars>
      </dgm:prSet>
      <dgm:spPr/>
    </dgm:pt>
    <dgm:pt modelId="{2E9D1362-172A-4369-8415-6E089FA67356}" type="pres">
      <dgm:prSet presAssocID="{53563D61-A301-4644-8AE7-FCAFDA9A58AB}" presName="levelTx" presStyleLbl="revTx" presStyleIdx="0" presStyleCnt="0">
        <dgm:presLayoutVars>
          <dgm:chMax val="1"/>
          <dgm:bulletEnabled val="1"/>
        </dgm:presLayoutVars>
      </dgm:prSet>
      <dgm:spPr/>
    </dgm:pt>
    <dgm:pt modelId="{E55855A1-EC9E-41EF-AA5C-B0A6C62BC58F}" type="pres">
      <dgm:prSet presAssocID="{9BC44171-365F-452D-AE92-EBE2E89770BA}" presName="Name8" presStyleCnt="0"/>
      <dgm:spPr/>
    </dgm:pt>
    <dgm:pt modelId="{285279A8-A2FF-4704-92DF-4753853CE322}" type="pres">
      <dgm:prSet presAssocID="{9BC44171-365F-452D-AE92-EBE2E89770BA}" presName="level" presStyleLbl="node1" presStyleIdx="4" presStyleCnt="5">
        <dgm:presLayoutVars>
          <dgm:chMax val="1"/>
          <dgm:bulletEnabled val="1"/>
        </dgm:presLayoutVars>
      </dgm:prSet>
      <dgm:spPr/>
    </dgm:pt>
    <dgm:pt modelId="{48B1057C-5EDF-4EC8-9A6B-B059EB7B0F8E}" type="pres">
      <dgm:prSet presAssocID="{9BC44171-365F-452D-AE92-EBE2E89770BA}" presName="levelTx" presStyleLbl="revTx" presStyleIdx="0" presStyleCnt="0">
        <dgm:presLayoutVars>
          <dgm:chMax val="1"/>
          <dgm:bulletEnabled val="1"/>
        </dgm:presLayoutVars>
      </dgm:prSet>
      <dgm:spPr/>
    </dgm:pt>
  </dgm:ptLst>
  <dgm:cxnLst>
    <dgm:cxn modelId="{04570C11-0AAF-4105-B53C-59BDB2A1EB11}" type="presOf" srcId="{28FD3D57-F3BB-4E5E-B091-1500A3C92E81}" destId="{6346E340-6B27-47A2-93A8-AA7F0249167F}" srcOrd="0" destOrd="0" presId="urn:microsoft.com/office/officeart/2005/8/layout/pyramid1"/>
    <dgm:cxn modelId="{66D00D19-FA9D-4051-B6B5-B80F0AC47E4A}" type="presOf" srcId="{85631E1F-364A-4A2A-9989-E896E5049557}" destId="{DC549F7C-7B63-4EBA-944C-0C5CAC570546}" srcOrd="1" destOrd="0" presId="urn:microsoft.com/office/officeart/2005/8/layout/pyramid1"/>
    <dgm:cxn modelId="{1263D722-8372-4789-B9F5-BFD8D9C870F1}" srcId="{28FD3D57-F3BB-4E5E-B091-1500A3C92E81}" destId="{9D67B1F7-C4FF-4E1E-94F4-69209A4E7C47}" srcOrd="2" destOrd="0" parTransId="{BD4D3042-AB5C-4E8F-B8BE-BC3A20988EB3}" sibTransId="{B379D14A-425C-47B8-B779-1E5D839E4BC8}"/>
    <dgm:cxn modelId="{31A5E032-4767-484E-9516-2D6EC1BAC818}" type="presOf" srcId="{53563D61-A301-4644-8AE7-FCAFDA9A58AB}" destId="{2E9D1362-172A-4369-8415-6E089FA67356}" srcOrd="1" destOrd="0" presId="urn:microsoft.com/office/officeart/2005/8/layout/pyramid1"/>
    <dgm:cxn modelId="{F2629F3A-4FE3-4B3E-B83D-0555BE7C8FBD}" type="presOf" srcId="{85631E1F-364A-4A2A-9989-E896E5049557}" destId="{3CE8FECB-ADC6-4195-8C29-ECF1EEE9F8FA}" srcOrd="0" destOrd="0" presId="urn:microsoft.com/office/officeart/2005/8/layout/pyramid1"/>
    <dgm:cxn modelId="{15D8F364-6809-49BA-A228-EAE95F4BE6B9}" srcId="{28FD3D57-F3BB-4E5E-B091-1500A3C92E81}" destId="{9BC44171-365F-452D-AE92-EBE2E89770BA}" srcOrd="4" destOrd="0" parTransId="{7679D3FA-0101-42D1-A23D-75BD8EF1DA28}" sibTransId="{FF5F2014-EE5D-4FD1-9103-39F792365AE5}"/>
    <dgm:cxn modelId="{F3697A49-7026-40CE-A2B9-71761A0223E3}" srcId="{28FD3D57-F3BB-4E5E-B091-1500A3C92E81}" destId="{53563D61-A301-4644-8AE7-FCAFDA9A58AB}" srcOrd="3" destOrd="0" parTransId="{B60323EE-B859-4184-88BB-62221AE106AB}" sibTransId="{426A8813-506E-429E-87DB-53AA3F5535D1}"/>
    <dgm:cxn modelId="{8FDB5E6D-661C-41AC-9FA0-91D3F8FFD6D9}" type="presOf" srcId="{9D67B1F7-C4FF-4E1E-94F4-69209A4E7C47}" destId="{7E617F38-6BB2-4E03-8198-FF7E7F898924}" srcOrd="1" destOrd="0" presId="urn:microsoft.com/office/officeart/2005/8/layout/pyramid1"/>
    <dgm:cxn modelId="{685D1073-2D3C-412E-A123-0EF4D596743E}" srcId="{28FD3D57-F3BB-4E5E-B091-1500A3C92E81}" destId="{E924DC90-2427-4BE5-A522-6ACD4563EB45}" srcOrd="0" destOrd="0" parTransId="{9E545862-1292-4DB6-B36C-D6247532E625}" sibTransId="{BD5A33EB-119A-4BA7-8787-7DF55D1248BC}"/>
    <dgm:cxn modelId="{A88E4273-F7D4-48AF-943F-7FA4DF9C2606}" type="presOf" srcId="{E924DC90-2427-4BE5-A522-6ACD4563EB45}" destId="{A8AE7F33-3372-4D78-96A6-FD2B204E9D9D}" srcOrd="1" destOrd="0" presId="urn:microsoft.com/office/officeart/2005/8/layout/pyramid1"/>
    <dgm:cxn modelId="{33ED1854-A9ED-45DA-8913-7FC839AAB981}" type="presOf" srcId="{9BC44171-365F-452D-AE92-EBE2E89770BA}" destId="{285279A8-A2FF-4704-92DF-4753853CE322}" srcOrd="0" destOrd="0" presId="urn:microsoft.com/office/officeart/2005/8/layout/pyramid1"/>
    <dgm:cxn modelId="{723E9675-955D-4A18-A032-DE43ECB85624}" type="presOf" srcId="{E924DC90-2427-4BE5-A522-6ACD4563EB45}" destId="{864F954D-81D4-4546-B08E-448FBA7A18FE}" srcOrd="0" destOrd="0" presId="urn:microsoft.com/office/officeart/2005/8/layout/pyramid1"/>
    <dgm:cxn modelId="{BD1903A1-E006-4340-B4CF-7CD782490A38}" type="presOf" srcId="{53563D61-A301-4644-8AE7-FCAFDA9A58AB}" destId="{E6279944-4AC5-4561-B5D0-64EE0E57E695}" srcOrd="0" destOrd="0" presId="urn:microsoft.com/office/officeart/2005/8/layout/pyramid1"/>
    <dgm:cxn modelId="{689B59B0-BF9D-489D-8A96-D6B2CF499ABF}" srcId="{28FD3D57-F3BB-4E5E-B091-1500A3C92E81}" destId="{85631E1F-364A-4A2A-9989-E896E5049557}" srcOrd="1" destOrd="0" parTransId="{EBE3CA2F-C22D-4DAD-BBB2-CC29F3FBCF68}" sibTransId="{DC75A793-C6A2-4960-947A-450C2653BBC6}"/>
    <dgm:cxn modelId="{739B5CEA-1932-4053-852F-247E63691C79}" type="presOf" srcId="{9D67B1F7-C4FF-4E1E-94F4-69209A4E7C47}" destId="{753AA43A-5097-42D8-A3EF-20B11215D8F3}" srcOrd="0" destOrd="0" presId="urn:microsoft.com/office/officeart/2005/8/layout/pyramid1"/>
    <dgm:cxn modelId="{AE3EB5FA-4927-4388-BD48-8F9079826EFA}" type="presOf" srcId="{9BC44171-365F-452D-AE92-EBE2E89770BA}" destId="{48B1057C-5EDF-4EC8-9A6B-B059EB7B0F8E}" srcOrd="1" destOrd="0" presId="urn:microsoft.com/office/officeart/2005/8/layout/pyramid1"/>
    <dgm:cxn modelId="{724B3B8E-5A8F-455C-8CB0-246FA07650C9}" type="presParOf" srcId="{6346E340-6B27-47A2-93A8-AA7F0249167F}" destId="{8351BCDF-D287-464A-AB10-4261CFFC4E79}" srcOrd="0" destOrd="0" presId="urn:microsoft.com/office/officeart/2005/8/layout/pyramid1"/>
    <dgm:cxn modelId="{B83998B2-F33F-4A19-AA8B-C12ABE92F459}" type="presParOf" srcId="{8351BCDF-D287-464A-AB10-4261CFFC4E79}" destId="{864F954D-81D4-4546-B08E-448FBA7A18FE}" srcOrd="0" destOrd="0" presId="urn:microsoft.com/office/officeart/2005/8/layout/pyramid1"/>
    <dgm:cxn modelId="{FF697D92-14FA-49DE-854A-3B45160627C8}" type="presParOf" srcId="{8351BCDF-D287-464A-AB10-4261CFFC4E79}" destId="{A8AE7F33-3372-4D78-96A6-FD2B204E9D9D}" srcOrd="1" destOrd="0" presId="urn:microsoft.com/office/officeart/2005/8/layout/pyramid1"/>
    <dgm:cxn modelId="{6D9A8C80-BA20-44C0-99AE-EE8926DED6ED}" type="presParOf" srcId="{6346E340-6B27-47A2-93A8-AA7F0249167F}" destId="{45295FEF-34B7-47B0-80DB-E881F25871A9}" srcOrd="1" destOrd="0" presId="urn:microsoft.com/office/officeart/2005/8/layout/pyramid1"/>
    <dgm:cxn modelId="{8C832AED-0FDB-40CA-9B4E-8C02CD2D33C4}" type="presParOf" srcId="{45295FEF-34B7-47B0-80DB-E881F25871A9}" destId="{3CE8FECB-ADC6-4195-8C29-ECF1EEE9F8FA}" srcOrd="0" destOrd="0" presId="urn:microsoft.com/office/officeart/2005/8/layout/pyramid1"/>
    <dgm:cxn modelId="{ACBFE7D8-DD9F-41BE-A1DD-16390180B717}" type="presParOf" srcId="{45295FEF-34B7-47B0-80DB-E881F25871A9}" destId="{DC549F7C-7B63-4EBA-944C-0C5CAC570546}" srcOrd="1" destOrd="0" presId="urn:microsoft.com/office/officeart/2005/8/layout/pyramid1"/>
    <dgm:cxn modelId="{2EDC6386-FD2E-4944-AD02-6C33BADDF850}" type="presParOf" srcId="{6346E340-6B27-47A2-93A8-AA7F0249167F}" destId="{BF7100C5-692A-476D-9242-E6DE2BFA407E}" srcOrd="2" destOrd="0" presId="urn:microsoft.com/office/officeart/2005/8/layout/pyramid1"/>
    <dgm:cxn modelId="{9F690A36-CAD6-4D83-A70F-6D713D279C68}" type="presParOf" srcId="{BF7100C5-692A-476D-9242-E6DE2BFA407E}" destId="{753AA43A-5097-42D8-A3EF-20B11215D8F3}" srcOrd="0" destOrd="0" presId="urn:microsoft.com/office/officeart/2005/8/layout/pyramid1"/>
    <dgm:cxn modelId="{5F0851C6-5FFF-49BF-8B49-C965411D433D}" type="presParOf" srcId="{BF7100C5-692A-476D-9242-E6DE2BFA407E}" destId="{7E617F38-6BB2-4E03-8198-FF7E7F898924}" srcOrd="1" destOrd="0" presId="urn:microsoft.com/office/officeart/2005/8/layout/pyramid1"/>
    <dgm:cxn modelId="{2A13AAA8-9828-4015-BBB7-DE44145677B4}" type="presParOf" srcId="{6346E340-6B27-47A2-93A8-AA7F0249167F}" destId="{29C42FD2-6503-4F77-8487-9B33E0527141}" srcOrd="3" destOrd="0" presId="urn:microsoft.com/office/officeart/2005/8/layout/pyramid1"/>
    <dgm:cxn modelId="{00F821B7-D3E5-4C49-B208-956861463A6F}" type="presParOf" srcId="{29C42FD2-6503-4F77-8487-9B33E0527141}" destId="{E6279944-4AC5-4561-B5D0-64EE0E57E695}" srcOrd="0" destOrd="0" presId="urn:microsoft.com/office/officeart/2005/8/layout/pyramid1"/>
    <dgm:cxn modelId="{C91F242C-6B21-4D23-AA2B-248635A67730}" type="presParOf" srcId="{29C42FD2-6503-4F77-8487-9B33E0527141}" destId="{2E9D1362-172A-4369-8415-6E089FA67356}" srcOrd="1" destOrd="0" presId="urn:microsoft.com/office/officeart/2005/8/layout/pyramid1"/>
    <dgm:cxn modelId="{130A802C-F9E0-46A4-9B2E-CAB53EFCE87E}" type="presParOf" srcId="{6346E340-6B27-47A2-93A8-AA7F0249167F}" destId="{E55855A1-EC9E-41EF-AA5C-B0A6C62BC58F}" srcOrd="4" destOrd="0" presId="urn:microsoft.com/office/officeart/2005/8/layout/pyramid1"/>
    <dgm:cxn modelId="{BD156B57-D9E2-44F0-9AD7-4D9DF28539CB}" type="presParOf" srcId="{E55855A1-EC9E-41EF-AA5C-B0A6C62BC58F}" destId="{285279A8-A2FF-4704-92DF-4753853CE322}" srcOrd="0" destOrd="0" presId="urn:microsoft.com/office/officeart/2005/8/layout/pyramid1"/>
    <dgm:cxn modelId="{413DE596-B7D9-4866-8068-990990E67353}" type="presParOf" srcId="{E55855A1-EC9E-41EF-AA5C-B0A6C62BC58F}" destId="{48B1057C-5EDF-4EC8-9A6B-B059EB7B0F8E}" srcOrd="1" destOrd="0" presId="urn:microsoft.com/office/officeart/2005/8/layout/pyramid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4F954D-81D4-4546-B08E-448FBA7A18FE}">
      <dsp:nvSpPr>
        <dsp:cNvPr id="0" name=""/>
        <dsp:cNvSpPr/>
      </dsp:nvSpPr>
      <dsp:spPr>
        <a:xfrm>
          <a:off x="1428530" y="0"/>
          <a:ext cx="973992" cy="847624"/>
        </a:xfrm>
        <a:prstGeom prst="trapezoid">
          <a:avLst>
            <a:gd name="adj" fmla="val 58298"/>
          </a:avLst>
        </a:prstGeom>
        <a:solidFill>
          <a:schemeClr val="accent1">
            <a:lumMod val="50000"/>
          </a:schemeClr>
        </a:solidFill>
        <a:ln w="25400" cap="flat" cmpd="sng" algn="ctr">
          <a:solidFill>
            <a:schemeClr val="bg1">
              <a:lumMod val="9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ko-KR" sz="1600" b="1" kern="1200" dirty="0">
              <a:solidFill>
                <a:schemeClr val="bg1"/>
              </a:solidFill>
              <a:latin typeface="Arial" pitchFamily="34" charset="0"/>
              <a:cs typeface="Arial" pitchFamily="34" charset="0"/>
            </a:rPr>
            <a:t>A</a:t>
          </a:r>
          <a:endParaRPr lang="en-JM" sz="1600" b="1" kern="1200" dirty="0">
            <a:solidFill>
              <a:schemeClr val="bg1"/>
            </a:solidFill>
            <a:latin typeface="Arial" pitchFamily="34" charset="0"/>
            <a:cs typeface="Arial" pitchFamily="34" charset="0"/>
          </a:endParaRPr>
        </a:p>
      </dsp:txBody>
      <dsp:txXfrm>
        <a:off x="1428530" y="0"/>
        <a:ext cx="973992" cy="847624"/>
      </dsp:txXfrm>
    </dsp:sp>
    <dsp:sp modelId="{3CE8FECB-ADC6-4195-8C29-ECF1EEE9F8FA}">
      <dsp:nvSpPr>
        <dsp:cNvPr id="0" name=""/>
        <dsp:cNvSpPr/>
      </dsp:nvSpPr>
      <dsp:spPr>
        <a:xfrm>
          <a:off x="1066031" y="847624"/>
          <a:ext cx="1698991" cy="609525"/>
        </a:xfrm>
        <a:prstGeom prst="trapezoid">
          <a:avLst>
            <a:gd name="adj" fmla="val 58298"/>
          </a:avLst>
        </a:prstGeom>
        <a:solidFill>
          <a:schemeClr val="accent2">
            <a:lumMod val="75000"/>
          </a:schemeClr>
        </a:solidFill>
        <a:ln w="25400" cap="flat" cmpd="sng" algn="ctr">
          <a:solidFill>
            <a:schemeClr val="bg1">
              <a:lumMod val="9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ko-KR" sz="1600" b="1" kern="1200" dirty="0">
              <a:solidFill>
                <a:schemeClr val="bg1"/>
              </a:solidFill>
              <a:latin typeface="Arial" pitchFamily="34" charset="0"/>
              <a:cs typeface="Arial" pitchFamily="34" charset="0"/>
            </a:rPr>
            <a:t>B</a:t>
          </a:r>
          <a:r>
            <a:rPr lang="ko-KR" altLang="en-US" sz="1600" b="1" kern="1200" dirty="0">
              <a:solidFill>
                <a:schemeClr val="bg1"/>
              </a:solidFill>
              <a:latin typeface="Arial" pitchFamily="34" charset="0"/>
              <a:cs typeface="Arial" pitchFamily="34" charset="0"/>
            </a:rPr>
            <a:t> </a:t>
          </a:r>
          <a:r>
            <a:rPr lang="en-US" altLang="ko-KR" sz="1600" b="1" kern="1200" dirty="0">
              <a:solidFill>
                <a:schemeClr val="bg1"/>
              </a:solidFill>
              <a:latin typeface="Arial" pitchFamily="34" charset="0"/>
              <a:cs typeface="Arial" pitchFamily="34" charset="0"/>
            </a:rPr>
            <a:t> </a:t>
          </a:r>
          <a:endParaRPr lang="en-JM" sz="1600" b="1" kern="1200" dirty="0">
            <a:solidFill>
              <a:schemeClr val="bg1"/>
            </a:solidFill>
            <a:latin typeface="Arial" pitchFamily="34" charset="0"/>
            <a:cs typeface="Arial" pitchFamily="34" charset="0"/>
          </a:endParaRPr>
        </a:p>
      </dsp:txBody>
      <dsp:txXfrm>
        <a:off x="1363354" y="847624"/>
        <a:ext cx="1104344" cy="609525"/>
      </dsp:txXfrm>
    </dsp:sp>
    <dsp:sp modelId="{753AA43A-5097-42D8-A3EF-20B11215D8F3}">
      <dsp:nvSpPr>
        <dsp:cNvPr id="0" name=""/>
        <dsp:cNvSpPr/>
      </dsp:nvSpPr>
      <dsp:spPr>
        <a:xfrm>
          <a:off x="710687" y="1457150"/>
          <a:ext cx="2409678" cy="609525"/>
        </a:xfrm>
        <a:prstGeom prst="trapezoid">
          <a:avLst>
            <a:gd name="adj" fmla="val 58298"/>
          </a:avLst>
        </a:prstGeom>
        <a:solidFill>
          <a:schemeClr val="accent3"/>
        </a:solidFill>
        <a:ln w="25400" cap="flat" cmpd="sng" algn="ctr">
          <a:solidFill>
            <a:schemeClr val="bg1">
              <a:lumMod val="9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ko-KR" sz="1600" b="1" kern="1200" dirty="0">
              <a:solidFill>
                <a:schemeClr val="bg1"/>
              </a:solidFill>
              <a:latin typeface="Arial" pitchFamily="34" charset="0"/>
              <a:cs typeface="Arial" pitchFamily="34" charset="0"/>
            </a:rPr>
            <a:t>C</a:t>
          </a:r>
          <a:r>
            <a:rPr lang="ko-KR" altLang="en-US" sz="1600" b="1" kern="1200" dirty="0">
              <a:solidFill>
                <a:schemeClr val="bg1"/>
              </a:solidFill>
              <a:latin typeface="Arial" pitchFamily="34" charset="0"/>
              <a:cs typeface="Arial" pitchFamily="34" charset="0"/>
            </a:rPr>
            <a:t> </a:t>
          </a:r>
          <a:r>
            <a:rPr lang="en-US" altLang="ko-KR" sz="1600" b="1" kern="1200" dirty="0">
              <a:solidFill>
                <a:schemeClr val="bg1"/>
              </a:solidFill>
              <a:latin typeface="Arial" pitchFamily="34" charset="0"/>
              <a:cs typeface="Arial" pitchFamily="34" charset="0"/>
            </a:rPr>
            <a:t> </a:t>
          </a:r>
          <a:endParaRPr lang="en-JM" sz="1600" b="1" kern="1200" dirty="0">
            <a:solidFill>
              <a:schemeClr val="bg1"/>
            </a:solidFill>
            <a:latin typeface="Arial" pitchFamily="34" charset="0"/>
            <a:cs typeface="Arial" pitchFamily="34" charset="0"/>
          </a:endParaRPr>
        </a:p>
      </dsp:txBody>
      <dsp:txXfrm>
        <a:off x="1132381" y="1457150"/>
        <a:ext cx="1566291" cy="609525"/>
      </dsp:txXfrm>
    </dsp:sp>
    <dsp:sp modelId="{E6279944-4AC5-4561-B5D0-64EE0E57E695}">
      <dsp:nvSpPr>
        <dsp:cNvPr id="0" name=""/>
        <dsp:cNvSpPr/>
      </dsp:nvSpPr>
      <dsp:spPr>
        <a:xfrm>
          <a:off x="355343" y="2066676"/>
          <a:ext cx="3120366" cy="609525"/>
        </a:xfrm>
        <a:prstGeom prst="trapezoid">
          <a:avLst>
            <a:gd name="adj" fmla="val 58298"/>
          </a:avLst>
        </a:prstGeom>
        <a:solidFill>
          <a:schemeClr val="accent4">
            <a:lumMod val="60000"/>
            <a:lumOff val="40000"/>
          </a:schemeClr>
        </a:solidFill>
        <a:ln w="25400" cap="flat" cmpd="sng" algn="ctr">
          <a:solidFill>
            <a:schemeClr val="bg1">
              <a:lumMod val="9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ko-KR" sz="1600" b="1" kern="1200" dirty="0">
              <a:solidFill>
                <a:schemeClr val="bg1"/>
              </a:solidFill>
              <a:latin typeface="Arial" pitchFamily="34" charset="0"/>
              <a:cs typeface="Arial" pitchFamily="34" charset="0"/>
            </a:rPr>
            <a:t>D</a:t>
          </a:r>
          <a:r>
            <a:rPr lang="ko-KR" altLang="en-US" sz="1600" b="1" kern="1200" dirty="0">
              <a:solidFill>
                <a:schemeClr val="bg1"/>
              </a:solidFill>
              <a:latin typeface="Arial" pitchFamily="34" charset="0"/>
              <a:cs typeface="Arial" pitchFamily="34" charset="0"/>
            </a:rPr>
            <a:t> </a:t>
          </a:r>
          <a:r>
            <a:rPr lang="en-US" altLang="ko-KR" sz="1600" b="1" kern="1200" dirty="0">
              <a:solidFill>
                <a:schemeClr val="bg1"/>
              </a:solidFill>
              <a:latin typeface="Arial" pitchFamily="34" charset="0"/>
              <a:cs typeface="Arial" pitchFamily="34" charset="0"/>
            </a:rPr>
            <a:t> </a:t>
          </a:r>
          <a:endParaRPr lang="en-JM" sz="1600" b="1" kern="1200" dirty="0">
            <a:solidFill>
              <a:schemeClr val="bg1"/>
            </a:solidFill>
            <a:latin typeface="Arial" pitchFamily="34" charset="0"/>
            <a:cs typeface="Arial" pitchFamily="34" charset="0"/>
          </a:endParaRPr>
        </a:p>
      </dsp:txBody>
      <dsp:txXfrm>
        <a:off x="901407" y="2066676"/>
        <a:ext cx="2028238" cy="609525"/>
      </dsp:txXfrm>
    </dsp:sp>
    <dsp:sp modelId="{285279A8-A2FF-4704-92DF-4753853CE322}">
      <dsp:nvSpPr>
        <dsp:cNvPr id="0" name=""/>
        <dsp:cNvSpPr/>
      </dsp:nvSpPr>
      <dsp:spPr>
        <a:xfrm>
          <a:off x="0" y="2676202"/>
          <a:ext cx="3831054" cy="609525"/>
        </a:xfrm>
        <a:prstGeom prst="trapezoid">
          <a:avLst>
            <a:gd name="adj" fmla="val 58298"/>
          </a:avLst>
        </a:prstGeom>
        <a:solidFill>
          <a:schemeClr val="accent5">
            <a:lumMod val="40000"/>
            <a:lumOff val="60000"/>
          </a:schemeClr>
        </a:solidFill>
        <a:ln w="25400" cap="flat" cmpd="sng" algn="ctr">
          <a:solidFill>
            <a:schemeClr val="bg1">
              <a:lumMod val="9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altLang="ko-KR" sz="1600" b="1" kern="1200" dirty="0">
              <a:solidFill>
                <a:schemeClr val="bg1"/>
              </a:solidFill>
              <a:latin typeface="Arial" pitchFamily="34" charset="0"/>
              <a:cs typeface="Arial" pitchFamily="34" charset="0"/>
            </a:rPr>
            <a:t>E</a:t>
          </a:r>
          <a:r>
            <a:rPr lang="ko-KR" altLang="en-US" sz="1600" b="1" kern="1200" dirty="0">
              <a:solidFill>
                <a:schemeClr val="bg1"/>
              </a:solidFill>
              <a:latin typeface="Arial" pitchFamily="34" charset="0"/>
              <a:cs typeface="Arial" pitchFamily="34" charset="0"/>
            </a:rPr>
            <a:t> </a:t>
          </a:r>
          <a:r>
            <a:rPr lang="en-US" altLang="ko-KR" sz="1600" b="1" kern="1200" dirty="0">
              <a:solidFill>
                <a:schemeClr val="bg1"/>
              </a:solidFill>
              <a:latin typeface="Arial" pitchFamily="34" charset="0"/>
              <a:cs typeface="Arial" pitchFamily="34" charset="0"/>
            </a:rPr>
            <a:t> </a:t>
          </a:r>
          <a:endParaRPr lang="en-JM" sz="1600" b="1" kern="1200" dirty="0">
            <a:solidFill>
              <a:schemeClr val="bg1"/>
            </a:solidFill>
            <a:latin typeface="Arial" pitchFamily="34" charset="0"/>
            <a:cs typeface="Arial" pitchFamily="34" charset="0"/>
          </a:endParaRPr>
        </a:p>
      </dsp:txBody>
      <dsp:txXfrm>
        <a:off x="670434" y="2676202"/>
        <a:ext cx="2490185" cy="609525"/>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3705210"/>
            <a:ext cx="9144000" cy="522725"/>
          </a:xfrm>
          <a:prstGeom prst="rect">
            <a:avLst/>
          </a:prstGeom>
        </p:spPr>
        <p:txBody>
          <a:bodyPr anchor="ctr"/>
          <a:lstStyle>
            <a:lvl1pPr marL="0" indent="0" algn="ctr">
              <a:lnSpc>
                <a:spcPct val="100000"/>
              </a:lnSpc>
              <a:buNone/>
              <a:defRPr sz="3600" b="1" baseline="0">
                <a:solidFill>
                  <a:schemeClr val="tx1">
                    <a:lumMod val="75000"/>
                    <a:lumOff val="25000"/>
                  </a:schemeClr>
                </a:solidFill>
                <a:latin typeface="+mj-lt"/>
                <a:cs typeface="Arial" pitchFamily="34" charset="0"/>
              </a:defRPr>
            </a:lvl1pPr>
          </a:lstStyle>
          <a:p>
            <a:pPr lvl="0"/>
            <a:r>
              <a:rPr lang="en-US" altLang="ko-KR" dirty="0">
                <a:ea typeface="맑은 고딕" pitchFamily="50" charset="-127"/>
              </a:rPr>
              <a:t>FREE PPT TEMPLATES</a:t>
            </a:r>
            <a:endParaRPr lang="en-US" altLang="ko-KR" dirty="0"/>
          </a:p>
        </p:txBody>
      </p:sp>
      <p:sp>
        <p:nvSpPr>
          <p:cNvPr id="11" name="Text Placeholder 9"/>
          <p:cNvSpPr>
            <a:spLocks noGrp="1"/>
          </p:cNvSpPr>
          <p:nvPr>
            <p:ph type="body" sz="quarter" idx="11" hasCustomPrompt="1"/>
          </p:nvPr>
        </p:nvSpPr>
        <p:spPr>
          <a:xfrm>
            <a:off x="-148" y="4227934"/>
            <a:ext cx="9144000" cy="288032"/>
          </a:xfrm>
          <a:prstGeom prst="rect">
            <a:avLst/>
          </a:prstGeom>
        </p:spPr>
        <p:txBody>
          <a:bodyPr anchor="ctr"/>
          <a:lstStyle>
            <a:lvl1pPr marL="0" indent="0" algn="ctr">
              <a:lnSpc>
                <a:spcPct val="100000"/>
              </a:lnSpc>
              <a:buNone/>
              <a:defRPr sz="1400" b="1" baseline="0">
                <a:solidFill>
                  <a:schemeClr val="tx1">
                    <a:lumMod val="75000"/>
                    <a:lumOff val="25000"/>
                  </a:schemeClr>
                </a:solidFill>
                <a:latin typeface="+mn-lt"/>
                <a:cs typeface="Arial" pitchFamily="34" charset="0"/>
              </a:defRPr>
            </a:lvl1pPr>
          </a:lstStyle>
          <a:p>
            <a:pPr lvl="0"/>
            <a:r>
              <a:rPr lang="en-US" altLang="ko-KR" dirty="0"/>
              <a:t>INSTERT THE TITLE OF YOUR PRESENTATION HERE</a:t>
            </a:r>
            <a:endParaRPr lang="ko-KR" altLang="en-US" dirty="0"/>
          </a:p>
        </p:txBody>
      </p:sp>
    </p:spTree>
    <p:extLst>
      <p:ext uri="{BB962C8B-B14F-4D97-AF65-F5344CB8AC3E}">
        <p14:creationId xmlns:p14="http://schemas.microsoft.com/office/powerpoint/2010/main" val="41627365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chemeClr val="bg1">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Oval 1"/>
          <p:cNvSpPr/>
          <p:nvPr userDrawn="1"/>
        </p:nvSpPr>
        <p:spPr>
          <a:xfrm>
            <a:off x="2699792" y="699542"/>
            <a:ext cx="3744416" cy="3744416"/>
          </a:xfrm>
          <a:prstGeom prst="ellipse">
            <a:avLst/>
          </a:prstGeom>
          <a:solidFill>
            <a:schemeClr val="accent1">
              <a:alpha val="77000"/>
            </a:schemeClr>
          </a:solidFill>
          <a:ln w="857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2699792" y="2181230"/>
            <a:ext cx="374441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99644" y="2757294"/>
            <a:ext cx="374441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92247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339502"/>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915566"/>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57801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12904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395536" y="195486"/>
            <a:ext cx="842493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395536" y="771550"/>
            <a:ext cx="842493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457713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179512" y="339502"/>
            <a:ext cx="4248472"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179512" y="915566"/>
            <a:ext cx="4248472"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3927735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 hasCustomPrompt="1"/>
          </p:nvPr>
        </p:nvSpPr>
        <p:spPr>
          <a:xfrm>
            <a:off x="649246" y="1275606"/>
            <a:ext cx="1648869" cy="1648869"/>
          </a:xfrm>
          <a:prstGeom prst="ellipse">
            <a:avLst/>
          </a:prstGeom>
          <a:solidFill>
            <a:schemeClr val="bg1">
              <a:lumMod val="95000"/>
            </a:schemeClr>
          </a:solidFill>
          <a:ln w="38100">
            <a:solidFill>
              <a:schemeClr val="accent1"/>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2720790" y="1275606"/>
            <a:ext cx="1648869" cy="1648869"/>
          </a:xfrm>
          <a:prstGeom prst="ellipse">
            <a:avLst/>
          </a:prstGeom>
          <a:solidFill>
            <a:schemeClr val="bg1">
              <a:lumMod val="95000"/>
            </a:schemeClr>
          </a:solidFill>
          <a:ln w="38100">
            <a:solidFill>
              <a:schemeClr val="accent2"/>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4792334" y="1275606"/>
            <a:ext cx="1648869" cy="1648869"/>
          </a:xfrm>
          <a:prstGeom prst="ellipse">
            <a:avLst/>
          </a:prstGeom>
          <a:solidFill>
            <a:schemeClr val="bg1">
              <a:lumMod val="95000"/>
            </a:schemeClr>
          </a:solidFill>
          <a:ln w="38100">
            <a:solidFill>
              <a:schemeClr val="accent3"/>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6863879" y="1275606"/>
            <a:ext cx="1648869" cy="1648869"/>
          </a:xfrm>
          <a:prstGeom prst="ellipse">
            <a:avLst/>
          </a:prstGeom>
          <a:solidFill>
            <a:schemeClr val="bg1">
              <a:lumMod val="95000"/>
            </a:schemeClr>
          </a:solidFill>
          <a:ln w="38100">
            <a:solidFill>
              <a:schemeClr val="accent4"/>
            </a:solidFill>
          </a:ln>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650241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5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61596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4" name="Rectangle 3"/>
          <p:cNvSpPr/>
          <p:nvPr userDrawn="1"/>
        </p:nvSpPr>
        <p:spPr>
          <a:xfrm>
            <a:off x="4572000" y="0"/>
            <a:ext cx="4104456"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Picture Placeholder 2"/>
          <p:cNvSpPr>
            <a:spLocks noGrp="1"/>
          </p:cNvSpPr>
          <p:nvPr>
            <p:ph type="pic" idx="1" hasCustomPrompt="1"/>
          </p:nvPr>
        </p:nvSpPr>
        <p:spPr>
          <a:xfrm>
            <a:off x="0" y="1995686"/>
            <a:ext cx="9144000" cy="288032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156313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mages and Contents Layout">
    <p:bg>
      <p:bgPr>
        <a:solidFill>
          <a:schemeClr val="accent1"/>
        </a:solidFill>
        <a:effectLst/>
      </p:bgPr>
    </p:bg>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3347864" y="131536"/>
            <a:ext cx="5796136"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2" hasCustomPrompt="1"/>
          </p:nvPr>
        </p:nvSpPr>
        <p:spPr>
          <a:xfrm>
            <a:off x="4104000" y="1798321"/>
            <a:ext cx="504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9" name="Picture Placeholder 2"/>
          <p:cNvSpPr>
            <a:spLocks noGrp="1"/>
          </p:cNvSpPr>
          <p:nvPr>
            <p:ph type="pic" idx="13" hasCustomPrompt="1"/>
          </p:nvPr>
        </p:nvSpPr>
        <p:spPr>
          <a:xfrm>
            <a:off x="4824000" y="3465106"/>
            <a:ext cx="4320000" cy="154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945812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3937417"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5" name="Picture Placeholder 2"/>
          <p:cNvSpPr>
            <a:spLocks noGrp="1"/>
          </p:cNvSpPr>
          <p:nvPr>
            <p:ph type="pic" idx="10" hasCustomPrompt="1"/>
          </p:nvPr>
        </p:nvSpPr>
        <p:spPr>
          <a:xfrm>
            <a:off x="1968708"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
        <p:nvSpPr>
          <p:cNvPr id="6" name="Picture Placeholder 2"/>
          <p:cNvSpPr>
            <a:spLocks noGrp="1"/>
          </p:cNvSpPr>
          <p:nvPr>
            <p:ph type="pic" idx="11" hasCustomPrompt="1"/>
          </p:nvPr>
        </p:nvSpPr>
        <p:spPr>
          <a:xfrm>
            <a:off x="0" y="1"/>
            <a:ext cx="1872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Insert Your Image</a:t>
            </a:r>
            <a:endParaRPr lang="ko-KR" altLang="en-US" dirty="0"/>
          </a:p>
        </p:txBody>
      </p:sp>
    </p:spTree>
    <p:extLst>
      <p:ext uri="{BB962C8B-B14F-4D97-AF65-F5344CB8AC3E}">
        <p14:creationId xmlns:p14="http://schemas.microsoft.com/office/powerpoint/2010/main" val="34165337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4" name="Picture Placeholder 2"/>
          <p:cNvSpPr>
            <a:spLocks noGrp="1"/>
          </p:cNvSpPr>
          <p:nvPr>
            <p:ph type="pic" idx="13" hasCustomPrompt="1"/>
          </p:nvPr>
        </p:nvSpPr>
        <p:spPr>
          <a:xfrm>
            <a:off x="3795621" y="230919"/>
            <a:ext cx="3294112"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5613166" y="3399271"/>
            <a:ext cx="3293944"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3795621" y="1815095"/>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5621504" y="1814524"/>
            <a:ext cx="1468228" cy="15121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Picture Placeholder 2"/>
          <p:cNvSpPr>
            <a:spLocks noGrp="1"/>
          </p:cNvSpPr>
          <p:nvPr>
            <p:ph type="pic" idx="18" hasCustomPrompt="1"/>
          </p:nvPr>
        </p:nvSpPr>
        <p:spPr>
          <a:xfrm>
            <a:off x="7178918" y="230919"/>
            <a:ext cx="1728192" cy="3096344"/>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137589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81632"/>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757696"/>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4"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7041" y="1313860"/>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5" name="Picture Placeholder 2"/>
          <p:cNvSpPr>
            <a:spLocks noGrp="1"/>
          </p:cNvSpPr>
          <p:nvPr>
            <p:ph type="pic" idx="1" hasCustomPrompt="1"/>
          </p:nvPr>
        </p:nvSpPr>
        <p:spPr>
          <a:xfrm>
            <a:off x="981898" y="1731279"/>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956077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1059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75000"/>
                  <a:lumOff val="25000"/>
                </a:schemeClr>
              </a:solidFill>
            </a:endParaRPr>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3507854"/>
            <a:ext cx="9144000" cy="163564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6" name="Picture 2" descr="D:\Fullppt\PNG이미지\핸드폰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735225" y="1079005"/>
            <a:ext cx="3373328" cy="4085033"/>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3566328" y="1217153"/>
            <a:ext cx="1945465" cy="300514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454243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ICON SETS LAYOUT</a:t>
            </a:r>
          </a:p>
        </p:txBody>
      </p:sp>
      <p:grpSp>
        <p:nvGrpSpPr>
          <p:cNvPr id="5" name="Group 4"/>
          <p:cNvGrpSpPr/>
          <p:nvPr userDrawn="1"/>
        </p:nvGrpSpPr>
        <p:grpSpPr>
          <a:xfrm>
            <a:off x="354008" y="1131589"/>
            <a:ext cx="2849840" cy="364917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spTree>
    <p:extLst>
      <p:ext uri="{BB962C8B-B14F-4D97-AF65-F5344CB8AC3E}">
        <p14:creationId xmlns:p14="http://schemas.microsoft.com/office/powerpoint/2010/main" val="738182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4572000" y="2253238"/>
            <a:ext cx="4572000" cy="473576"/>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572000" y="2726814"/>
            <a:ext cx="4572000"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slideLayout" Target="../slideLayouts/slideLayout16.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683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1" r:id="rId3"/>
    <p:sldLayoutId id="2147483660" r:id="rId4"/>
    <p:sldLayoutId id="2147483662" r:id="rId5"/>
    <p:sldLayoutId id="2147483655" r:id="rId6"/>
    <p:sldLayoutId id="2147483663" r:id="rId7"/>
    <p:sldLayoutId id="2147483664" r:id="rId8"/>
    <p:sldLayoutId id="2147483668" r:id="rId9"/>
    <p:sldLayoutId id="2147483665" r:id="rId10"/>
    <p:sldLayoutId id="2147483670" r:id="rId11"/>
    <p:sldLayoutId id="2147483672" r:id="rId12"/>
    <p:sldLayoutId id="2147483656" r:id="rId13"/>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4.jfi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1044624" y="3219822"/>
            <a:ext cx="11593288" cy="522725"/>
          </a:xfrm>
        </p:spPr>
        <p:txBody>
          <a:bodyPr/>
          <a:lstStyle/>
          <a:p>
            <a:pPr marL="1657350" marR="1810385" indent="-229235" algn="ctr">
              <a:spcBef>
                <a:spcPts val="305"/>
              </a:spcBef>
              <a:spcAft>
                <a:spcPts val="0"/>
              </a:spcAft>
            </a:pPr>
            <a:r>
              <a:rPr lang="en-US" sz="2800" kern="0" dirty="0" err="1">
                <a:solidFill>
                  <a:schemeClr val="accent1">
                    <a:lumMod val="75000"/>
                  </a:schemeClr>
                </a:solidFill>
                <a:effectLst/>
                <a:latin typeface="Times New Roman" panose="02020603050405020304" pitchFamily="18" charset="0"/>
                <a:ea typeface="Times New Roman" panose="02020603050405020304" pitchFamily="18" charset="0"/>
              </a:rPr>
              <a:t>Poslovni</a:t>
            </a:r>
            <a:r>
              <a:rPr lang="en-US" sz="2800" kern="0" dirty="0">
                <a:solidFill>
                  <a:schemeClr val="accent1">
                    <a:lumMod val="75000"/>
                  </a:schemeClr>
                </a:solidFill>
                <a:effectLst/>
                <a:latin typeface="Times New Roman" panose="02020603050405020304" pitchFamily="18" charset="0"/>
                <a:ea typeface="Times New Roman" panose="02020603050405020304" pitchFamily="18" charset="0"/>
              </a:rPr>
              <a:t> </a:t>
            </a:r>
            <a:r>
              <a:rPr lang="en-US" sz="2800" kern="0" dirty="0" err="1">
                <a:solidFill>
                  <a:schemeClr val="accent1">
                    <a:lumMod val="75000"/>
                  </a:schemeClr>
                </a:solidFill>
                <a:effectLst/>
                <a:latin typeface="Times New Roman" panose="02020603050405020304" pitchFamily="18" charset="0"/>
                <a:ea typeface="Times New Roman" panose="02020603050405020304" pitchFamily="18" charset="0"/>
              </a:rPr>
              <a:t>analiti</a:t>
            </a:r>
            <a:r>
              <a:rPr lang="sr-Latn-RS" sz="2800" kern="0" dirty="0">
                <a:solidFill>
                  <a:schemeClr val="accent1">
                    <a:lumMod val="75000"/>
                  </a:schemeClr>
                </a:solidFill>
                <a:latin typeface="Times New Roman" panose="02020603050405020304" pitchFamily="18" charset="0"/>
                <a:ea typeface="Times New Roman" panose="02020603050405020304" pitchFamily="18" charset="0"/>
              </a:rPr>
              <a:t>čar – Kako je biti poslovni analitičar?</a:t>
            </a:r>
            <a:endParaRPr lang="en-US" sz="2800" kern="0" dirty="0">
              <a:solidFill>
                <a:schemeClr val="accent1">
                  <a:lumMod val="75000"/>
                </a:schemeClr>
              </a:solidFill>
              <a:effectLst/>
              <a:latin typeface="Times New Roman" panose="02020603050405020304" pitchFamily="18" charset="0"/>
              <a:ea typeface="Times New Roman" panose="02020603050405020304" pitchFamily="18" charset="0"/>
            </a:endParaRPr>
          </a:p>
        </p:txBody>
      </p:sp>
      <p:sp>
        <p:nvSpPr>
          <p:cNvPr id="4" name="Text Placeholder 3"/>
          <p:cNvSpPr>
            <a:spLocks noGrp="1"/>
          </p:cNvSpPr>
          <p:nvPr>
            <p:ph type="body" sz="quarter" idx="11"/>
          </p:nvPr>
        </p:nvSpPr>
        <p:spPr>
          <a:xfrm>
            <a:off x="179512" y="4155926"/>
            <a:ext cx="3312368" cy="884589"/>
          </a:xfrm>
        </p:spPr>
        <p:txBody>
          <a:bodyPr/>
          <a:lstStyle/>
          <a:p>
            <a:pPr>
              <a:spcBef>
                <a:spcPts val="0"/>
              </a:spcBef>
              <a:defRPr/>
            </a:pPr>
            <a:r>
              <a:rPr lang="sr-Latn-RS" altLang="ko-KR" dirty="0">
                <a:solidFill>
                  <a:srgbClr val="17375E"/>
                </a:solidFill>
              </a:rPr>
              <a:t>Student</a:t>
            </a:r>
            <a:r>
              <a:rPr lang="en-US" altLang="ko-KR" dirty="0">
                <a:solidFill>
                  <a:srgbClr val="17375E"/>
                </a:solidFill>
              </a:rPr>
              <a:t>:</a:t>
            </a:r>
          </a:p>
          <a:p>
            <a:pPr>
              <a:spcBef>
                <a:spcPts val="0"/>
              </a:spcBef>
              <a:defRPr/>
            </a:pPr>
            <a:r>
              <a:rPr lang="en-US" altLang="ko-KR" dirty="0">
                <a:solidFill>
                  <a:srgbClr val="17375E"/>
                </a:solidFill>
              </a:rPr>
              <a:t>Nemanja Milo</a:t>
            </a:r>
            <a:r>
              <a:rPr lang="sr-Latn-RS" altLang="ko-KR" dirty="0">
                <a:solidFill>
                  <a:srgbClr val="17375E"/>
                </a:solidFill>
              </a:rPr>
              <a:t>šević, br.ind. 1250</a:t>
            </a:r>
            <a:endParaRPr lang="en-US" altLang="ko-KR" dirty="0">
              <a:solidFill>
                <a:srgbClr val="17375E"/>
              </a:solidFill>
            </a:endParaRPr>
          </a:p>
        </p:txBody>
      </p:sp>
      <p:sp>
        <p:nvSpPr>
          <p:cNvPr id="10" name="Text Placeholder 3">
            <a:extLst>
              <a:ext uri="{FF2B5EF4-FFF2-40B4-BE49-F238E27FC236}">
                <a16:creationId xmlns:a16="http://schemas.microsoft.com/office/drawing/2014/main" id="{DC91A07A-D5A0-4519-9015-A766E813807F}"/>
              </a:ext>
            </a:extLst>
          </p:cNvPr>
          <p:cNvSpPr txBox="1">
            <a:spLocks/>
          </p:cNvSpPr>
          <p:nvPr/>
        </p:nvSpPr>
        <p:spPr>
          <a:xfrm>
            <a:off x="5652122" y="4155926"/>
            <a:ext cx="3312368" cy="884589"/>
          </a:xfrm>
          <a:prstGeom prst="rect">
            <a:avLst/>
          </a:prstGeom>
        </p:spPr>
        <p:txBody>
          <a:bodyPr anchor="ctr"/>
          <a:lstStyle>
            <a:lvl1pPr marL="0" indent="0" algn="ctr" defTabSz="914400" rtl="0" eaLnBrk="1" latinLnBrk="1" hangingPunct="1">
              <a:lnSpc>
                <a:spcPct val="100000"/>
              </a:lnSpc>
              <a:spcBef>
                <a:spcPct val="20000"/>
              </a:spcBef>
              <a:buFont typeface="Arial" pitchFamily="34" charset="0"/>
              <a:buNone/>
              <a:defRPr sz="1400" b="1" kern="1200" baseline="0">
                <a:solidFill>
                  <a:schemeClr val="tx1">
                    <a:lumMod val="75000"/>
                    <a:lumOff val="25000"/>
                  </a:schemeClr>
                </a:solidFill>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a:spcBef>
                <a:spcPts val="0"/>
              </a:spcBef>
              <a:defRPr/>
            </a:pPr>
            <a:r>
              <a:rPr lang="sr-Latn-RS" altLang="ko-KR" dirty="0">
                <a:solidFill>
                  <a:srgbClr val="17375E"/>
                </a:solidFill>
              </a:rPr>
              <a:t>Predmet:</a:t>
            </a:r>
            <a:endParaRPr lang="en-US" altLang="ko-KR" dirty="0">
              <a:solidFill>
                <a:srgbClr val="17375E"/>
              </a:solidFill>
            </a:endParaRPr>
          </a:p>
          <a:p>
            <a:pPr>
              <a:spcBef>
                <a:spcPts val="0"/>
              </a:spcBef>
              <a:defRPr/>
            </a:pPr>
            <a:r>
              <a:rPr lang="sr-Latn-RS" altLang="ko-KR" dirty="0">
                <a:solidFill>
                  <a:srgbClr val="17375E"/>
                </a:solidFill>
              </a:rPr>
              <a:t>Inženjerstvo zahteva, 2020/2021.</a:t>
            </a:r>
            <a:endParaRPr lang="en-US" altLang="ko-KR" dirty="0">
              <a:solidFill>
                <a:srgbClr val="17375E"/>
              </a:solidFill>
            </a:endParaRPr>
          </a:p>
        </p:txBody>
      </p:sp>
      <p:pic>
        <p:nvPicPr>
          <p:cNvPr id="15" name="Picture 14">
            <a:extLst>
              <a:ext uri="{FF2B5EF4-FFF2-40B4-BE49-F238E27FC236}">
                <a16:creationId xmlns:a16="http://schemas.microsoft.com/office/drawing/2014/main" id="{A6A07E33-93EE-438D-BD57-80B106CEBCEF}"/>
              </a:ext>
            </a:extLst>
          </p:cNvPr>
          <p:cNvPicPr>
            <a:picLocks noChangeAspect="1"/>
          </p:cNvPicPr>
          <p:nvPr/>
        </p:nvPicPr>
        <p:blipFill>
          <a:blip r:embed="rId2"/>
          <a:stretch>
            <a:fillRect/>
          </a:stretch>
        </p:blipFill>
        <p:spPr>
          <a:xfrm>
            <a:off x="3804946" y="3670539"/>
            <a:ext cx="1534108" cy="1349276"/>
          </a:xfrm>
          <a:prstGeom prst="ellipse">
            <a:avLst/>
          </a:prstGeom>
          <a:ln>
            <a:noFill/>
          </a:ln>
          <a:effectLst>
            <a:softEdge rad="112500"/>
          </a:effectLst>
        </p:spPr>
      </p:pic>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79512" y="15234"/>
            <a:ext cx="5544616" cy="858974"/>
          </a:xfrm>
        </p:spPr>
        <p:txBody>
          <a:bodyPr/>
          <a:lstStyle/>
          <a:p>
            <a:r>
              <a:rPr lang="sr-Latn-RS" altLang="ko-KR" sz="2400" b="1" dirty="0">
                <a:solidFill>
                  <a:schemeClr val="tx2">
                    <a:lumMod val="75000"/>
                  </a:schemeClr>
                </a:solidFill>
              </a:rPr>
              <a:t>Poslovni analitičar</a:t>
            </a:r>
            <a:endParaRPr lang="ko-KR" altLang="en-US" sz="2400" b="1" dirty="0">
              <a:solidFill>
                <a:schemeClr val="tx2">
                  <a:lumMod val="75000"/>
                </a:schemeClr>
              </a:solidFill>
            </a:endParaRPr>
          </a:p>
        </p:txBody>
      </p:sp>
      <p:grpSp>
        <p:nvGrpSpPr>
          <p:cNvPr id="5" name="Group 4"/>
          <p:cNvGrpSpPr/>
          <p:nvPr/>
        </p:nvGrpSpPr>
        <p:grpSpPr>
          <a:xfrm>
            <a:off x="4521722" y="238567"/>
            <a:ext cx="4254331" cy="4544887"/>
            <a:chOff x="2153764" y="1097408"/>
            <a:chExt cx="2929046" cy="3664470"/>
          </a:xfrm>
        </p:grpSpPr>
        <p:sp>
          <p:nvSpPr>
            <p:cNvPr id="6" name="TextBox 5"/>
            <p:cNvSpPr txBox="1"/>
            <p:nvPr/>
          </p:nvSpPr>
          <p:spPr>
            <a:xfrm>
              <a:off x="2246878" y="1238072"/>
              <a:ext cx="2835932" cy="3523806"/>
            </a:xfrm>
            <a:prstGeom prst="rect">
              <a:avLst/>
            </a:prstGeom>
            <a:noFill/>
          </p:spPr>
          <p:txBody>
            <a:bodyPr wrap="square" rtlCol="0" anchor="ctr">
              <a:spAutoFit/>
            </a:bodyPr>
            <a:lstStyle/>
            <a:p>
              <a:endParaRPr lang="en-US" altLang="ko-KR" sz="1200" dirty="0">
                <a:solidFill>
                  <a:schemeClr val="tx1">
                    <a:lumMod val="75000"/>
                    <a:lumOff val="25000"/>
                  </a:schemeClr>
                </a:solidFill>
                <a:cs typeface="Arial" pitchFamily="34" charset="0"/>
              </a:endParaRPr>
            </a:p>
            <a:p>
              <a:pPr marL="285750" indent="-285750">
                <a:buFontTx/>
                <a:buChar char="-"/>
              </a:pPr>
              <a:r>
                <a:rPr lang="sr-Latn-RS" altLang="ko-KR" sz="1400" dirty="0">
                  <a:solidFill>
                    <a:srgbClr val="17375E"/>
                  </a:solidFill>
                  <a:cs typeface="Arial" pitchFamily="34" charset="0"/>
                </a:rPr>
                <a:t>Poslovni analitičar je uloga koja treba da postoji kod izrade projekta, čiji je zadatak da omogući promene u organizacionom kontekstu definisanjem potreba i predlaganjem preporuka rešenja koja donose vrednost naručiocima projekta. </a:t>
              </a:r>
            </a:p>
            <a:p>
              <a:pPr marL="285750" indent="-285750">
                <a:buFontTx/>
                <a:buChar char="-"/>
              </a:pPr>
              <a:r>
                <a:rPr lang="sr-Latn-RS" altLang="ko-KR" sz="1400" dirty="0">
                  <a:solidFill>
                    <a:srgbClr val="17375E"/>
                  </a:solidFill>
                  <a:cs typeface="Arial" pitchFamily="34" charset="0"/>
                </a:rPr>
                <a:t>Uloga poslovnih analitičara je da razvijaju tehnička rešenja problema u poslu i da povećaju prihod od prodaje kompanije jasnim definisanjem, dokumentovanjem i analizom zahteva. </a:t>
              </a:r>
            </a:p>
            <a:p>
              <a:pPr marL="285750" indent="-285750">
                <a:buFontTx/>
                <a:buChar char="-"/>
              </a:pPr>
              <a:r>
                <a:rPr lang="sr-Latn-RS" altLang="ko-KR" sz="1400" dirty="0">
                  <a:solidFill>
                    <a:srgbClr val="17375E"/>
                  </a:solidFill>
                  <a:cs typeface="Arial" pitchFamily="34" charset="0"/>
                </a:rPr>
                <a:t>Poslovni analitičar identifikuje probleme i potrebe preduzeća, da bi zatim razvio rešenja i ideje. Poslovni analitičar igra vitalnu ulogu da premosti prazninu i nesporazume u komunikaciji između različitih učesnika na projektu. On sarađuje sa raznim timovima, omogućavajući im da reše problem i postignu zajednički cilj. </a:t>
              </a:r>
              <a:endParaRPr lang="en-US" altLang="ko-KR" sz="1400" dirty="0">
                <a:solidFill>
                  <a:srgbClr val="17375E"/>
                </a:solidFill>
                <a:cs typeface="Arial" pitchFamily="34" charset="0"/>
              </a:endParaRPr>
            </a:p>
          </p:txBody>
        </p:sp>
        <p:sp>
          <p:nvSpPr>
            <p:cNvPr id="7" name="TextBox 6"/>
            <p:cNvSpPr txBox="1"/>
            <p:nvPr/>
          </p:nvSpPr>
          <p:spPr>
            <a:xfrm>
              <a:off x="2153764" y="1097408"/>
              <a:ext cx="2761322" cy="248156"/>
            </a:xfrm>
            <a:prstGeom prst="rect">
              <a:avLst/>
            </a:prstGeom>
            <a:noFill/>
          </p:spPr>
          <p:txBody>
            <a:bodyPr wrap="square" rtlCol="0" anchor="ctr">
              <a:spAutoFit/>
            </a:bodyPr>
            <a:lstStyle/>
            <a:p>
              <a:endParaRPr lang="ko-KR" altLang="en-US" sz="1400" b="1" dirty="0">
                <a:solidFill>
                  <a:schemeClr val="accent1"/>
                </a:solidFill>
                <a:cs typeface="Arial" pitchFamily="34" charset="0"/>
              </a:endParaRPr>
            </a:p>
          </p:txBody>
        </p:sp>
      </p:grpSp>
    </p:spTree>
    <p:extLst>
      <p:ext uri="{BB962C8B-B14F-4D97-AF65-F5344CB8AC3E}">
        <p14:creationId xmlns:p14="http://schemas.microsoft.com/office/powerpoint/2010/main" val="328518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78712" y="74603"/>
            <a:ext cx="8424936" cy="576064"/>
          </a:xfrm>
        </p:spPr>
        <p:txBody>
          <a:bodyPr anchor="ctr"/>
          <a:lstStyle/>
          <a:p>
            <a:r>
              <a:rPr lang="sr-Latn-RS" altLang="ko-KR" sz="2400" dirty="0">
                <a:solidFill>
                  <a:schemeClr val="tx2">
                    <a:lumMod val="75000"/>
                  </a:schemeClr>
                </a:solidFill>
              </a:rPr>
              <a:t>Uloga poslovnog analitičara</a:t>
            </a:r>
            <a:endParaRPr lang="ko-KR" altLang="en-US" sz="2400" dirty="0">
              <a:solidFill>
                <a:schemeClr val="tx2">
                  <a:lumMod val="75000"/>
                </a:schemeClr>
              </a:solidFill>
            </a:endParaRPr>
          </a:p>
        </p:txBody>
      </p:sp>
      <p:sp>
        <p:nvSpPr>
          <p:cNvPr id="3" name="Text Placeholder 2"/>
          <p:cNvSpPr>
            <a:spLocks noGrp="1"/>
          </p:cNvSpPr>
          <p:nvPr>
            <p:ph type="body" sz="quarter" idx="11"/>
          </p:nvPr>
        </p:nvSpPr>
        <p:spPr>
          <a:xfrm>
            <a:off x="524227" y="648434"/>
            <a:ext cx="8424936" cy="288032"/>
          </a:xfrm>
        </p:spPr>
        <p:txBody>
          <a:bodyPr anchor="ctr"/>
          <a:lstStyle/>
          <a:p>
            <a:pPr lvl="0"/>
            <a:r>
              <a:rPr lang="sr-Latn-RS" altLang="ko-KR" b="1" dirty="0">
                <a:solidFill>
                  <a:srgbClr val="85D8DE"/>
                </a:solidFill>
              </a:rPr>
              <a:t>Ključna uloga poslovnog analitičara je upravljanje zahtevima.</a:t>
            </a:r>
            <a:endParaRPr lang="en-US" altLang="ko-KR" b="1" dirty="0">
              <a:solidFill>
                <a:srgbClr val="85D8DE"/>
              </a:solidFill>
            </a:endParaRPr>
          </a:p>
        </p:txBody>
      </p:sp>
      <p:sp>
        <p:nvSpPr>
          <p:cNvPr id="15" name="TextBox 14">
            <a:extLst>
              <a:ext uri="{FF2B5EF4-FFF2-40B4-BE49-F238E27FC236}">
                <a16:creationId xmlns:a16="http://schemas.microsoft.com/office/drawing/2014/main" id="{97F1C61E-CD67-4BA6-A21D-4DA375FAE9C0}"/>
              </a:ext>
            </a:extLst>
          </p:cNvPr>
          <p:cNvSpPr txBox="1"/>
          <p:nvPr/>
        </p:nvSpPr>
        <p:spPr>
          <a:xfrm>
            <a:off x="288221" y="843558"/>
            <a:ext cx="4119086" cy="3939540"/>
          </a:xfrm>
          <a:prstGeom prst="rect">
            <a:avLst/>
          </a:prstGeom>
          <a:noFill/>
        </p:spPr>
        <p:txBody>
          <a:bodyPr wrap="square" rtlCol="0" anchor="ctr">
            <a:spAutoFit/>
          </a:bodyPr>
          <a:lstStyle/>
          <a:p>
            <a:endParaRPr lang="en-US" altLang="ko-KR" sz="1200" dirty="0">
              <a:solidFill>
                <a:schemeClr val="tx1">
                  <a:lumMod val="75000"/>
                  <a:lumOff val="25000"/>
                </a:schemeClr>
              </a:solidFill>
              <a:cs typeface="Arial" pitchFamily="34" charset="0"/>
            </a:endParaRPr>
          </a:p>
          <a:p>
            <a:pPr marL="285750" indent="-285750">
              <a:buFontTx/>
              <a:buChar char="-"/>
            </a:pPr>
            <a:r>
              <a:rPr lang="sr-Latn-RS" altLang="ko-KR" sz="1400" dirty="0">
                <a:solidFill>
                  <a:srgbClr val="17375E"/>
                </a:solidFill>
                <a:cs typeface="Arial" pitchFamily="34" charset="0"/>
              </a:rPr>
              <a:t>Poslovni analitičar prikuplja i analizira razmišljanja i perspektive drugih učesnika na projektu, transformiše te podatke u informacije koje treba da budu specifikacija zahteva koje će razvojni tim da razvija. </a:t>
            </a:r>
          </a:p>
          <a:p>
            <a:pPr marL="285750" indent="-285750">
              <a:buFontTx/>
              <a:buChar char="-"/>
            </a:pPr>
            <a:r>
              <a:rPr lang="sr-Latn-RS" altLang="ko-KR" sz="1400" dirty="0">
                <a:solidFill>
                  <a:srgbClr val="17375E"/>
                </a:solidFill>
                <a:cs typeface="Arial" pitchFamily="34" charset="0"/>
              </a:rPr>
              <a:t>Razmenom prikupljenih informacija sa ostalim učesnicima podstiče razjašnjavanje i međusobnu usklađenost zarad pravljenja jednog zajedničkog i dobrog projekta. </a:t>
            </a:r>
          </a:p>
          <a:p>
            <a:pPr marL="285750" indent="-285750">
              <a:buFontTx/>
              <a:buChar char="-"/>
            </a:pPr>
            <a:r>
              <a:rPr lang="sr-Latn-RS" altLang="ko-KR" sz="1400" dirty="0">
                <a:solidFill>
                  <a:srgbClr val="17375E"/>
                </a:solidFill>
                <a:cs typeface="Arial" pitchFamily="34" charset="0"/>
              </a:rPr>
              <a:t>Zadatak </a:t>
            </a:r>
            <a:r>
              <a:rPr lang="en-US" altLang="ko-KR" sz="1400" dirty="0" err="1">
                <a:solidFill>
                  <a:srgbClr val="17375E"/>
                </a:solidFill>
                <a:cs typeface="Arial" pitchFamily="34" charset="0"/>
              </a:rPr>
              <a:t>poslovnog</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analitičara</a:t>
            </a:r>
            <a:r>
              <a:rPr lang="en-US" altLang="ko-KR" sz="1400" dirty="0">
                <a:solidFill>
                  <a:srgbClr val="17375E"/>
                </a:solidFill>
                <a:cs typeface="Arial" pitchFamily="34" charset="0"/>
              </a:rPr>
              <a:t> je </a:t>
            </a:r>
            <a:r>
              <a:rPr lang="en-US" altLang="ko-KR" sz="1400" dirty="0" err="1">
                <a:solidFill>
                  <a:srgbClr val="17375E"/>
                </a:solidFill>
                <a:cs typeface="Arial" pitchFamily="34" charset="0"/>
              </a:rPr>
              <a:t>otkrivanje</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zahteva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njihova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analiza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dokumentacija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i</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validacija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kako</a:t>
            </a:r>
            <a:r>
              <a:rPr lang="en-US" altLang="ko-KR" sz="1400" dirty="0">
                <a:solidFill>
                  <a:srgbClr val="17375E"/>
                </a:solidFill>
                <a:cs typeface="Arial" pitchFamily="34" charset="0"/>
              </a:rPr>
              <a:t> bi </a:t>
            </a:r>
            <a:r>
              <a:rPr lang="en-US" altLang="ko-KR" sz="1400" dirty="0" err="1">
                <a:solidFill>
                  <a:srgbClr val="17375E"/>
                </a:solidFill>
                <a:cs typeface="Arial" pitchFamily="34" charset="0"/>
              </a:rPr>
              <a:t>ih</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predstavio</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i</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drugim</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učesnicima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Poslovni</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analitičar</a:t>
            </a:r>
            <a:r>
              <a:rPr lang="en-US" altLang="ko-KR" sz="1400" dirty="0">
                <a:solidFill>
                  <a:srgbClr val="17375E"/>
                </a:solidFill>
                <a:cs typeface="Arial" pitchFamily="34" charset="0"/>
              </a:rPr>
              <a:t> je </a:t>
            </a:r>
            <a:r>
              <a:rPr lang="en-US" altLang="ko-KR" sz="1400" dirty="0" err="1">
                <a:solidFill>
                  <a:srgbClr val="17375E"/>
                </a:solidFill>
                <a:cs typeface="Arial" pitchFamily="34" charset="0"/>
              </a:rPr>
              <a:t>neko</a:t>
            </a:r>
            <a:r>
              <a:rPr lang="en-US" altLang="ko-KR" sz="1400" dirty="0">
                <a:solidFill>
                  <a:srgbClr val="17375E"/>
                </a:solidFill>
                <a:cs typeface="Arial" pitchFamily="34" charset="0"/>
              </a:rPr>
              <a:t> ko se </a:t>
            </a:r>
            <a:r>
              <a:rPr lang="en-US" altLang="ko-KR" sz="1400" dirty="0" err="1">
                <a:solidFill>
                  <a:srgbClr val="17375E"/>
                </a:solidFill>
                <a:cs typeface="Arial" pitchFamily="34" charset="0"/>
              </a:rPr>
              <a:t>nalazi</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između</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naručioca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softvera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i</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razvojnog</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tima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i</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ima</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centralnu</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ulogu</a:t>
            </a:r>
            <a:r>
              <a:rPr lang="en-US" altLang="ko-KR" sz="1400" dirty="0">
                <a:solidFill>
                  <a:srgbClr val="17375E"/>
                </a:solidFill>
                <a:cs typeface="Arial" pitchFamily="34" charset="0"/>
              </a:rPr>
              <a:t> u </a:t>
            </a:r>
            <a:r>
              <a:rPr lang="en-US" altLang="ko-KR" sz="1400" dirty="0" err="1">
                <a:solidFill>
                  <a:srgbClr val="17375E"/>
                </a:solidFill>
                <a:cs typeface="Arial" pitchFamily="34" charset="0"/>
              </a:rPr>
              <a:t>prikupljanju</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tumačenju</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i</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prenošenju</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informacija</a:t>
            </a:r>
            <a:r>
              <a:rPr lang="en-US" altLang="ko-KR" sz="1400" dirty="0">
                <a:solidFill>
                  <a:srgbClr val="17375E"/>
                </a:solidFill>
                <a:cs typeface="Arial" pitchFamily="34" charset="0"/>
              </a:rPr>
              <a:t> o </a:t>
            </a:r>
            <a:r>
              <a:rPr lang="en-US" altLang="ko-KR" sz="1400" dirty="0" err="1">
                <a:solidFill>
                  <a:srgbClr val="17375E"/>
                </a:solidFill>
                <a:cs typeface="Arial" pitchFamily="34" charset="0"/>
              </a:rPr>
              <a:t>proizvodu</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razvojnom</a:t>
            </a:r>
            <a:r>
              <a:rPr lang="en-US" altLang="ko-KR" sz="1400" dirty="0">
                <a:solidFill>
                  <a:srgbClr val="17375E"/>
                </a:solidFill>
                <a:cs typeface="Arial" pitchFamily="34" charset="0"/>
              </a:rPr>
              <a:t> </a:t>
            </a:r>
            <a:r>
              <a:rPr lang="en-US" altLang="ko-KR" sz="1400" dirty="0" err="1">
                <a:solidFill>
                  <a:srgbClr val="17375E"/>
                </a:solidFill>
                <a:cs typeface="Arial" pitchFamily="34" charset="0"/>
              </a:rPr>
              <a:t>timu</a:t>
            </a:r>
            <a:r>
              <a:rPr lang="en-US" altLang="ko-KR" sz="1400" dirty="0">
                <a:solidFill>
                  <a:srgbClr val="17375E"/>
                </a:solidFill>
                <a:cs typeface="Arial" pitchFamily="34" charset="0"/>
              </a:rPr>
              <a:t>. </a:t>
            </a:r>
          </a:p>
        </p:txBody>
      </p:sp>
    </p:spTree>
    <p:extLst>
      <p:ext uri="{BB962C8B-B14F-4D97-AF65-F5344CB8AC3E}">
        <p14:creationId xmlns:p14="http://schemas.microsoft.com/office/powerpoint/2010/main" val="466014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sr-Latn-RS" altLang="ko-KR" b="1" dirty="0">
                <a:solidFill>
                  <a:schemeClr val="tx2">
                    <a:lumMod val="75000"/>
                  </a:schemeClr>
                </a:solidFill>
              </a:rPr>
              <a:t>Glavni ciljevi poslovnog analitičara</a:t>
            </a:r>
            <a:endParaRPr lang="ko-KR" altLang="en-US" b="1" dirty="0">
              <a:solidFill>
                <a:schemeClr val="tx2">
                  <a:lumMod val="75000"/>
                </a:schemeClr>
              </a:solidFill>
            </a:endParaRPr>
          </a:p>
        </p:txBody>
      </p:sp>
      <p:graphicFrame>
        <p:nvGraphicFramePr>
          <p:cNvPr id="4" name="SmartArt Placeholder 13"/>
          <p:cNvGraphicFramePr>
            <a:graphicFrameLocks/>
          </p:cNvGraphicFramePr>
          <p:nvPr>
            <p:extLst>
              <p:ext uri="{D42A27DB-BD31-4B8C-83A1-F6EECF244321}">
                <p14:modId xmlns:p14="http://schemas.microsoft.com/office/powerpoint/2010/main" val="217541724"/>
              </p:ext>
            </p:extLst>
          </p:nvPr>
        </p:nvGraphicFramePr>
        <p:xfrm>
          <a:off x="697056" y="1363386"/>
          <a:ext cx="3831054" cy="32857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직사각형 9"/>
          <p:cNvSpPr/>
          <p:nvPr/>
        </p:nvSpPr>
        <p:spPr>
          <a:xfrm>
            <a:off x="5140178" y="1517667"/>
            <a:ext cx="504055" cy="504000"/>
          </a:xfrm>
          <a:prstGeom prst="ellipse">
            <a:avLst/>
          </a:prstGeom>
          <a:solidFill>
            <a:schemeClr val="accent1">
              <a:lumMod val="50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b="1" dirty="0">
                <a:cs typeface="Arial" pitchFamily="34" charset="0"/>
              </a:rPr>
              <a:t>A</a:t>
            </a:r>
            <a:endParaRPr lang="ko-KR" altLang="en-US" b="1" dirty="0">
              <a:cs typeface="Arial" pitchFamily="34" charset="0"/>
            </a:endParaRPr>
          </a:p>
        </p:txBody>
      </p:sp>
      <p:sp>
        <p:nvSpPr>
          <p:cNvPr id="6" name="직사각형 15"/>
          <p:cNvSpPr/>
          <p:nvPr/>
        </p:nvSpPr>
        <p:spPr>
          <a:xfrm>
            <a:off x="5140178" y="2151969"/>
            <a:ext cx="504055" cy="504000"/>
          </a:xfrm>
          <a:prstGeom prst="ellipse">
            <a:avLst/>
          </a:prstGeom>
          <a:solidFill>
            <a:schemeClr val="accent2">
              <a:lumMod val="7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b="1" dirty="0">
                <a:cs typeface="Arial" pitchFamily="34" charset="0"/>
              </a:rPr>
              <a:t>B</a:t>
            </a:r>
            <a:endParaRPr lang="ko-KR" altLang="en-US" b="1" dirty="0">
              <a:cs typeface="Arial" pitchFamily="34" charset="0"/>
            </a:endParaRPr>
          </a:p>
        </p:txBody>
      </p:sp>
      <p:sp>
        <p:nvSpPr>
          <p:cNvPr id="7" name="직사각형 17"/>
          <p:cNvSpPr/>
          <p:nvPr/>
        </p:nvSpPr>
        <p:spPr>
          <a:xfrm>
            <a:off x="5140178" y="2775677"/>
            <a:ext cx="504055" cy="504000"/>
          </a:xfrm>
          <a:prstGeom prst="ellipse">
            <a:avLst/>
          </a:prstGeom>
          <a:solidFill>
            <a:schemeClr val="accent3"/>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b="1" dirty="0">
                <a:cs typeface="Arial" pitchFamily="34" charset="0"/>
              </a:rPr>
              <a:t>C</a:t>
            </a:r>
            <a:endParaRPr lang="ko-KR" altLang="en-US" b="1" dirty="0">
              <a:cs typeface="Arial" pitchFamily="34" charset="0"/>
            </a:endParaRPr>
          </a:p>
        </p:txBody>
      </p:sp>
      <p:sp>
        <p:nvSpPr>
          <p:cNvPr id="8" name="직사각형 19"/>
          <p:cNvSpPr/>
          <p:nvPr/>
        </p:nvSpPr>
        <p:spPr>
          <a:xfrm>
            <a:off x="5140178" y="3399385"/>
            <a:ext cx="504055" cy="504000"/>
          </a:xfrm>
          <a:prstGeom prst="ellipse">
            <a:avLst/>
          </a:prstGeom>
          <a:solidFill>
            <a:schemeClr val="accent4">
              <a:lumMod val="60000"/>
              <a:lumOff val="40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b="1" dirty="0">
                <a:cs typeface="Arial" pitchFamily="34" charset="0"/>
              </a:rPr>
              <a:t>D</a:t>
            </a:r>
            <a:endParaRPr lang="ko-KR" altLang="en-US" b="1" dirty="0">
              <a:cs typeface="Arial" pitchFamily="34" charset="0"/>
            </a:endParaRPr>
          </a:p>
        </p:txBody>
      </p:sp>
      <p:sp>
        <p:nvSpPr>
          <p:cNvPr id="9" name="직사각형 21"/>
          <p:cNvSpPr/>
          <p:nvPr/>
        </p:nvSpPr>
        <p:spPr>
          <a:xfrm>
            <a:off x="5140178" y="4023093"/>
            <a:ext cx="504055" cy="504000"/>
          </a:xfrm>
          <a:prstGeom prst="ellipse">
            <a:avLst/>
          </a:prstGeom>
          <a:solidFill>
            <a:schemeClr val="accent5">
              <a:lumMod val="40000"/>
              <a:lumOff val="60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ko-KR" b="1" dirty="0">
                <a:cs typeface="Arial" pitchFamily="34" charset="0"/>
              </a:rPr>
              <a:t>E</a:t>
            </a:r>
            <a:endParaRPr lang="ko-KR" altLang="en-US" b="1" dirty="0">
              <a:cs typeface="Arial" pitchFamily="34" charset="0"/>
            </a:endParaRPr>
          </a:p>
        </p:txBody>
      </p:sp>
      <p:cxnSp>
        <p:nvCxnSpPr>
          <p:cNvPr id="10" name="직선 연결선 2"/>
          <p:cNvCxnSpPr/>
          <p:nvPr/>
        </p:nvCxnSpPr>
        <p:spPr>
          <a:xfrm>
            <a:off x="3015942" y="1769667"/>
            <a:ext cx="2016224" cy="0"/>
          </a:xfrm>
          <a:prstGeom prst="line">
            <a:avLst/>
          </a:prstGeom>
          <a:ln w="19050">
            <a:solidFill>
              <a:schemeClr val="accent1">
                <a:lumMod val="50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1" name="직선 연결선 24"/>
          <p:cNvCxnSpPr/>
          <p:nvPr/>
        </p:nvCxnSpPr>
        <p:spPr>
          <a:xfrm>
            <a:off x="3375982" y="2403969"/>
            <a:ext cx="1656184" cy="0"/>
          </a:xfrm>
          <a:prstGeom prst="line">
            <a:avLst/>
          </a:prstGeom>
          <a:ln w="19050">
            <a:solidFill>
              <a:schemeClr val="accent2">
                <a:lumMod val="75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2" name="직선 연결선 25"/>
          <p:cNvCxnSpPr/>
          <p:nvPr/>
        </p:nvCxnSpPr>
        <p:spPr>
          <a:xfrm>
            <a:off x="3736022" y="3027677"/>
            <a:ext cx="1296144" cy="0"/>
          </a:xfrm>
          <a:prstGeom prst="line">
            <a:avLst/>
          </a:prstGeom>
          <a:ln w="19050">
            <a:solidFill>
              <a:schemeClr val="accent3"/>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3" name="직선 연결선 26"/>
          <p:cNvCxnSpPr/>
          <p:nvPr/>
        </p:nvCxnSpPr>
        <p:spPr>
          <a:xfrm>
            <a:off x="4132166" y="3651385"/>
            <a:ext cx="900000" cy="0"/>
          </a:xfrm>
          <a:prstGeom prst="line">
            <a:avLst/>
          </a:prstGeom>
          <a:ln w="19050">
            <a:solidFill>
              <a:schemeClr val="accent4">
                <a:lumMod val="60000"/>
                <a:lumOff val="40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cxnSp>
        <p:nvCxnSpPr>
          <p:cNvPr id="14" name="직선 연결선 27"/>
          <p:cNvCxnSpPr/>
          <p:nvPr/>
        </p:nvCxnSpPr>
        <p:spPr>
          <a:xfrm>
            <a:off x="4528110" y="4275093"/>
            <a:ext cx="504056" cy="0"/>
          </a:xfrm>
          <a:prstGeom prst="line">
            <a:avLst/>
          </a:prstGeom>
          <a:ln w="19050">
            <a:solidFill>
              <a:schemeClr val="accent5">
                <a:lumMod val="40000"/>
                <a:lumOff val="60000"/>
              </a:schemeClr>
            </a:solidFill>
            <a:prstDash val="sysDot"/>
            <a:headEnd type="oval"/>
            <a:tailEnd type="triangle"/>
          </a:ln>
        </p:spPr>
        <p:style>
          <a:lnRef idx="1">
            <a:schemeClr val="accent1"/>
          </a:lnRef>
          <a:fillRef idx="0">
            <a:schemeClr val="accent1"/>
          </a:fillRef>
          <a:effectRef idx="0">
            <a:schemeClr val="accent1"/>
          </a:effectRef>
          <a:fontRef idx="minor">
            <a:schemeClr val="tx1"/>
          </a:fontRef>
        </p:style>
      </p:cxnSp>
      <p:grpSp>
        <p:nvGrpSpPr>
          <p:cNvPr id="15" name="Group 14"/>
          <p:cNvGrpSpPr/>
          <p:nvPr/>
        </p:nvGrpSpPr>
        <p:grpSpPr>
          <a:xfrm>
            <a:off x="5711505" y="1358393"/>
            <a:ext cx="3231686" cy="487345"/>
            <a:chOff x="1456502" y="1061722"/>
            <a:chExt cx="3158275" cy="533976"/>
          </a:xfrm>
        </p:grpSpPr>
        <p:sp>
          <p:nvSpPr>
            <p:cNvPr id="16" name="TextBox 15"/>
            <p:cNvSpPr txBox="1"/>
            <p:nvPr/>
          </p:nvSpPr>
          <p:spPr>
            <a:xfrm>
              <a:off x="1472558" y="1292194"/>
              <a:ext cx="3142219" cy="303504"/>
            </a:xfrm>
            <a:prstGeom prst="rect">
              <a:avLst/>
            </a:prstGeom>
            <a:noFill/>
          </p:spPr>
          <p:txBody>
            <a:bodyPr wrap="square" rtlCol="0" anchor="ctr">
              <a:spAutoFit/>
            </a:bodyPr>
            <a:lstStyle/>
            <a:p>
              <a:r>
                <a:rPr lang="sr-Latn-RS" altLang="ko-KR" sz="1200" dirty="0">
                  <a:solidFill>
                    <a:srgbClr val="17375E"/>
                  </a:solidFill>
                  <a:cs typeface="Arial" pitchFamily="34" charset="0"/>
                </a:rPr>
                <a:t>Razumevanje poslovnih ciljeva projekta</a:t>
              </a:r>
              <a:endParaRPr lang="ko-KR" altLang="en-US" sz="1200" dirty="0">
                <a:solidFill>
                  <a:srgbClr val="17375E"/>
                </a:solidFill>
                <a:cs typeface="Arial" pitchFamily="34" charset="0"/>
              </a:endParaRPr>
            </a:p>
          </p:txBody>
        </p:sp>
        <p:sp>
          <p:nvSpPr>
            <p:cNvPr id="17" name="TextBox 16"/>
            <p:cNvSpPr txBox="1"/>
            <p:nvPr/>
          </p:nvSpPr>
          <p:spPr>
            <a:xfrm>
              <a:off x="1456502" y="1061722"/>
              <a:ext cx="2765965" cy="276999"/>
            </a:xfrm>
            <a:prstGeom prst="rect">
              <a:avLst/>
            </a:prstGeom>
            <a:noFill/>
          </p:spPr>
          <p:txBody>
            <a:bodyPr wrap="square" rtlCol="0" anchor="ctr">
              <a:spAutoFit/>
            </a:bodyPr>
            <a:lstStyle/>
            <a:p>
              <a:endParaRPr lang="ko-KR" altLang="en-US" sz="1200" b="1" dirty="0">
                <a:solidFill>
                  <a:schemeClr val="tx1">
                    <a:lumMod val="75000"/>
                    <a:lumOff val="25000"/>
                  </a:schemeClr>
                </a:solidFill>
                <a:cs typeface="Arial" pitchFamily="34" charset="0"/>
              </a:endParaRPr>
            </a:p>
          </p:txBody>
        </p:sp>
      </p:grpSp>
      <p:sp>
        <p:nvSpPr>
          <p:cNvPr id="19" name="TextBox 18"/>
          <p:cNvSpPr txBox="1"/>
          <p:nvPr/>
        </p:nvSpPr>
        <p:spPr>
          <a:xfrm>
            <a:off x="5733479" y="2369562"/>
            <a:ext cx="2830257" cy="276999"/>
          </a:xfrm>
          <a:prstGeom prst="rect">
            <a:avLst/>
          </a:prstGeom>
          <a:noFill/>
        </p:spPr>
        <p:txBody>
          <a:bodyPr wrap="square" rtlCol="0" anchor="ctr">
            <a:spAutoFit/>
          </a:bodyPr>
          <a:lstStyle/>
          <a:p>
            <a:endParaRPr lang="ko-KR" altLang="en-US" sz="1200" dirty="0">
              <a:solidFill>
                <a:schemeClr val="tx1">
                  <a:lumMod val="75000"/>
                  <a:lumOff val="25000"/>
                </a:schemeClr>
              </a:solidFill>
              <a:cs typeface="Arial" pitchFamily="34" charset="0"/>
            </a:endParaRPr>
          </a:p>
        </p:txBody>
      </p:sp>
      <p:sp>
        <p:nvSpPr>
          <p:cNvPr id="22" name="TextBox 21"/>
          <p:cNvSpPr txBox="1"/>
          <p:nvPr/>
        </p:nvSpPr>
        <p:spPr>
          <a:xfrm>
            <a:off x="5711505" y="2130485"/>
            <a:ext cx="3375701" cy="461665"/>
          </a:xfrm>
          <a:prstGeom prst="rect">
            <a:avLst/>
          </a:prstGeom>
          <a:noFill/>
        </p:spPr>
        <p:txBody>
          <a:bodyPr wrap="square" rtlCol="0" anchor="ctr">
            <a:spAutoFit/>
          </a:bodyPr>
          <a:lstStyle/>
          <a:p>
            <a:r>
              <a:rPr lang="sr-Latn-RS" altLang="ko-KR" sz="1200" dirty="0">
                <a:solidFill>
                  <a:srgbClr val="17375E"/>
                </a:solidFill>
                <a:cs typeface="Arial" pitchFamily="34" charset="0"/>
              </a:rPr>
              <a:t>Definisanje i upravljanje korisničkim zahtevima, funkcionalnim i nefunkcionalnim zahtevima</a:t>
            </a:r>
            <a:endParaRPr lang="ko-KR" altLang="en-US" sz="1200" dirty="0">
              <a:solidFill>
                <a:srgbClr val="17375E"/>
              </a:solidFill>
              <a:cs typeface="Arial" pitchFamily="34" charset="0"/>
            </a:endParaRPr>
          </a:p>
        </p:txBody>
      </p:sp>
      <p:sp>
        <p:nvSpPr>
          <p:cNvPr id="25" name="TextBox 24"/>
          <p:cNvSpPr txBox="1"/>
          <p:nvPr/>
        </p:nvSpPr>
        <p:spPr>
          <a:xfrm>
            <a:off x="5711505" y="2780028"/>
            <a:ext cx="3432495" cy="461665"/>
          </a:xfrm>
          <a:prstGeom prst="rect">
            <a:avLst/>
          </a:prstGeom>
          <a:noFill/>
        </p:spPr>
        <p:txBody>
          <a:bodyPr wrap="square" rtlCol="0" anchor="ctr">
            <a:spAutoFit/>
          </a:bodyPr>
          <a:lstStyle/>
          <a:p>
            <a:r>
              <a:rPr lang="sr-Latn-RS" altLang="ko-KR" sz="1200" dirty="0">
                <a:solidFill>
                  <a:srgbClr val="17375E"/>
                </a:solidFill>
                <a:cs typeface="Arial" pitchFamily="34" charset="0"/>
              </a:rPr>
              <a:t>Pretvaranje nejasnih korisnikovih ideja u jasnu specifikaciju koja pomaže razvojnom timu</a:t>
            </a:r>
            <a:endParaRPr lang="ko-KR" altLang="en-US" sz="1200" dirty="0">
              <a:solidFill>
                <a:srgbClr val="17375E"/>
              </a:solidFill>
              <a:cs typeface="Arial" pitchFamily="34" charset="0"/>
            </a:endParaRPr>
          </a:p>
        </p:txBody>
      </p:sp>
      <p:sp>
        <p:nvSpPr>
          <p:cNvPr id="28" name="TextBox 27"/>
          <p:cNvSpPr txBox="1"/>
          <p:nvPr/>
        </p:nvSpPr>
        <p:spPr>
          <a:xfrm>
            <a:off x="5711505" y="3420552"/>
            <a:ext cx="3287264" cy="461665"/>
          </a:xfrm>
          <a:prstGeom prst="rect">
            <a:avLst/>
          </a:prstGeom>
          <a:noFill/>
        </p:spPr>
        <p:txBody>
          <a:bodyPr wrap="square" rtlCol="0" anchor="ctr">
            <a:spAutoFit/>
          </a:bodyPr>
          <a:lstStyle/>
          <a:p>
            <a:r>
              <a:rPr lang="sr-Latn-RS" altLang="ko-KR" sz="1200" dirty="0">
                <a:solidFill>
                  <a:srgbClr val="17375E"/>
                </a:solidFill>
                <a:cs typeface="Arial" pitchFamily="34" charset="0"/>
              </a:rPr>
              <a:t>Cilj da naručioci projekta budu zadovoljni samim projektom</a:t>
            </a:r>
            <a:endParaRPr lang="ko-KR" altLang="en-US" sz="1200" dirty="0">
              <a:solidFill>
                <a:srgbClr val="17375E"/>
              </a:solidFill>
              <a:cs typeface="Arial" pitchFamily="34" charset="0"/>
            </a:endParaRPr>
          </a:p>
        </p:txBody>
      </p:sp>
      <p:sp>
        <p:nvSpPr>
          <p:cNvPr id="33" name="TextBox 32">
            <a:extLst>
              <a:ext uri="{FF2B5EF4-FFF2-40B4-BE49-F238E27FC236}">
                <a16:creationId xmlns:a16="http://schemas.microsoft.com/office/drawing/2014/main" id="{9B0910B7-01C4-4CD9-A378-43443662CA77}"/>
              </a:ext>
            </a:extLst>
          </p:cNvPr>
          <p:cNvSpPr txBox="1"/>
          <p:nvPr/>
        </p:nvSpPr>
        <p:spPr>
          <a:xfrm>
            <a:off x="5711505" y="4110888"/>
            <a:ext cx="3394768" cy="461665"/>
          </a:xfrm>
          <a:prstGeom prst="rect">
            <a:avLst/>
          </a:prstGeom>
          <a:noFill/>
        </p:spPr>
        <p:txBody>
          <a:bodyPr wrap="square" rtlCol="0" anchor="ctr">
            <a:spAutoFit/>
          </a:bodyPr>
          <a:lstStyle/>
          <a:p>
            <a:r>
              <a:rPr lang="sr-Latn-RS" altLang="ko-KR" sz="1200" dirty="0">
                <a:solidFill>
                  <a:srgbClr val="17375E"/>
                </a:solidFill>
                <a:cs typeface="Arial" pitchFamily="34" charset="0"/>
              </a:rPr>
              <a:t>Cilj da učesnici na projektu budu zadovoljni postignutim poslovnim rezultatima</a:t>
            </a:r>
            <a:endParaRPr lang="ko-KR" altLang="en-US" sz="1200" dirty="0">
              <a:solidFill>
                <a:srgbClr val="17375E"/>
              </a:solidFill>
              <a:cs typeface="Arial" pitchFamily="34" charset="0"/>
            </a:endParaRPr>
          </a:p>
        </p:txBody>
      </p:sp>
    </p:spTree>
    <p:extLst>
      <p:ext uri="{BB962C8B-B14F-4D97-AF65-F5344CB8AC3E}">
        <p14:creationId xmlns:p14="http://schemas.microsoft.com/office/powerpoint/2010/main" val="1515669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p:cNvSpPr>
          <p:nvPr/>
        </p:nvSpPr>
        <p:spPr>
          <a:xfrm>
            <a:off x="2411760" y="107437"/>
            <a:ext cx="6732240"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sr-Latn-RS" sz="2400" dirty="0">
                <a:solidFill>
                  <a:schemeClr val="tx2">
                    <a:lumMod val="75000"/>
                  </a:schemeClr>
                </a:solidFill>
                <a:cs typeface="Arial" pitchFamily="34" charset="0"/>
              </a:rPr>
              <a:t>Postojanje potrebe za poslovnim analitičarom</a:t>
            </a:r>
            <a:endParaRPr lang="en-US" sz="2400" dirty="0">
              <a:solidFill>
                <a:schemeClr val="tx2">
                  <a:lumMod val="75000"/>
                </a:schemeClr>
              </a:solidFill>
              <a:cs typeface="Arial" pitchFamily="34" charset="0"/>
            </a:endParaRPr>
          </a:p>
        </p:txBody>
      </p:sp>
      <p:grpSp>
        <p:nvGrpSpPr>
          <p:cNvPr id="30" name="Group 29"/>
          <p:cNvGrpSpPr/>
          <p:nvPr/>
        </p:nvGrpSpPr>
        <p:grpSpPr>
          <a:xfrm>
            <a:off x="2620123" y="738196"/>
            <a:ext cx="6315512" cy="576000"/>
            <a:chOff x="2984973" y="1131591"/>
            <a:chExt cx="5656606" cy="576000"/>
          </a:xfrm>
        </p:grpSpPr>
        <p:sp>
          <p:nvSpPr>
            <p:cNvPr id="4" name="Round Same Side Corner Rectangle 3"/>
            <p:cNvSpPr/>
            <p:nvPr/>
          </p:nvSpPr>
          <p:spPr>
            <a:xfrm rot="5400000">
              <a:off x="5719936" y="-1240514"/>
              <a:ext cx="432048" cy="5320208"/>
            </a:xfrm>
            <a:prstGeom prst="round2SameRect">
              <a:avLst>
                <a:gd name="adj1" fmla="val 50000"/>
                <a:gd name="adj2" fmla="val 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rgbClr val="002060"/>
                </a:solidFill>
                <a:highlight>
                  <a:srgbClr val="000080"/>
                </a:highlight>
              </a:endParaRPr>
            </a:p>
          </p:txBody>
        </p:sp>
        <p:sp>
          <p:nvSpPr>
            <p:cNvPr id="5" name="AutoShape 92"/>
            <p:cNvSpPr>
              <a:spLocks noChangeAspect="1" noChangeArrowheads="1"/>
            </p:cNvSpPr>
            <p:nvPr/>
          </p:nvSpPr>
          <p:spPr bwMode="auto">
            <a:xfrm rot="16200000" flipH="1">
              <a:off x="2984973" y="1131591"/>
              <a:ext cx="576000" cy="576000"/>
            </a:xfrm>
            <a:prstGeom prst="ellipse">
              <a:avLst/>
            </a:prstGeom>
            <a:solidFill>
              <a:schemeClr val="bg1"/>
            </a:solidFill>
            <a:ln w="50800">
              <a:solidFill>
                <a:schemeClr val="accent1"/>
              </a:solidFill>
              <a:headEnd/>
              <a:tailEnd/>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endParaRPr kumimoji="0" lang="ko-KR" altLang="en-US" sz="2800" dirty="0">
                <a:solidFill>
                  <a:schemeClr val="bg1"/>
                </a:solidFill>
              </a:endParaRPr>
            </a:p>
          </p:txBody>
        </p:sp>
        <p:sp>
          <p:nvSpPr>
            <p:cNvPr id="6" name="TextBox 5"/>
            <p:cNvSpPr txBox="1"/>
            <p:nvPr/>
          </p:nvSpPr>
          <p:spPr>
            <a:xfrm>
              <a:off x="2988072" y="1234925"/>
              <a:ext cx="569802" cy="369332"/>
            </a:xfrm>
            <a:prstGeom prst="rect">
              <a:avLst/>
            </a:prstGeom>
            <a:noFill/>
          </p:spPr>
          <p:txBody>
            <a:bodyPr wrap="square" tIns="0" bIns="0" rtlCol="0" anchor="ctr">
              <a:spAutoFit/>
            </a:bodyPr>
            <a:lstStyle/>
            <a:p>
              <a:pPr algn="ctr"/>
              <a:r>
                <a:rPr lang="en-US" altLang="ko-KR" sz="2400" b="1" dirty="0">
                  <a:solidFill>
                    <a:schemeClr val="accent1"/>
                  </a:solidFill>
                  <a:cs typeface="Arial" pitchFamily="34" charset="0"/>
                </a:rPr>
                <a:t>01</a:t>
              </a:r>
            </a:p>
          </p:txBody>
        </p:sp>
        <p:sp>
          <p:nvSpPr>
            <p:cNvPr id="7" name="TextBox 6"/>
            <p:cNvSpPr txBox="1"/>
            <p:nvPr/>
          </p:nvSpPr>
          <p:spPr bwMode="auto">
            <a:xfrm>
              <a:off x="3564877" y="1257285"/>
              <a:ext cx="5076702"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sr-Latn-RS" altLang="ko-KR" sz="1400" b="1" dirty="0">
                  <a:solidFill>
                    <a:schemeClr val="bg1"/>
                  </a:solidFill>
                  <a:cs typeface="Arial" pitchFamily="34" charset="0"/>
                </a:rPr>
                <a:t>Smanjenje troškova projekta</a:t>
              </a:r>
              <a:endParaRPr lang="en-US" altLang="ko-KR" sz="1400" b="1" dirty="0">
                <a:solidFill>
                  <a:schemeClr val="bg1"/>
                </a:solidFill>
                <a:cs typeface="Arial" pitchFamily="34" charset="0"/>
              </a:endParaRPr>
            </a:p>
          </p:txBody>
        </p:sp>
      </p:grpSp>
      <p:sp>
        <p:nvSpPr>
          <p:cNvPr id="14" name="TextBox 13"/>
          <p:cNvSpPr txBox="1"/>
          <p:nvPr/>
        </p:nvSpPr>
        <p:spPr>
          <a:xfrm>
            <a:off x="3267577" y="1238571"/>
            <a:ext cx="5480887" cy="1200329"/>
          </a:xfrm>
          <a:prstGeom prst="rect">
            <a:avLst/>
          </a:prstGeom>
          <a:noFill/>
        </p:spPr>
        <p:txBody>
          <a:bodyPr wrap="square" rtlCol="0" anchor="ctr">
            <a:spAutoFit/>
          </a:bodyPr>
          <a:lstStyle/>
          <a:p>
            <a:pPr marL="171450" indent="-171450">
              <a:buFontTx/>
              <a:buChar char="-"/>
            </a:pPr>
            <a:r>
              <a:rPr lang="sr-Latn-RS" altLang="ko-KR" sz="1200" dirty="0">
                <a:solidFill>
                  <a:srgbClr val="17375E"/>
                </a:solidFill>
                <a:cs typeface="Arial" pitchFamily="34" charset="0"/>
              </a:rPr>
              <a:t>smanjivanje ponovnog rada</a:t>
            </a:r>
          </a:p>
          <a:p>
            <a:pPr marL="171450" indent="-171450">
              <a:buFontTx/>
              <a:buChar char="-"/>
            </a:pPr>
            <a:r>
              <a:rPr lang="sr-Latn-RS" altLang="ko-KR" sz="1200" dirty="0">
                <a:solidFill>
                  <a:srgbClr val="17375E"/>
                </a:solidFill>
                <a:cs typeface="Arial" pitchFamily="34" charset="0"/>
              </a:rPr>
              <a:t>redukcija zastoja u razvoju projekta</a:t>
            </a:r>
          </a:p>
          <a:p>
            <a:pPr marL="171450" indent="-171450">
              <a:buFontTx/>
              <a:buChar char="-"/>
            </a:pPr>
            <a:r>
              <a:rPr lang="sr-Latn-RS" altLang="ko-KR" sz="1200" dirty="0">
                <a:solidFill>
                  <a:srgbClr val="17375E"/>
                </a:solidFill>
                <a:cs typeface="Arial" pitchFamily="34" charset="0"/>
              </a:rPr>
              <a:t>popunjavanje komunikacionih praznina (kako bi korisnici što pre shvatili šta žele od projekta, kako bi se što brže došlo do rešenja, kako bi se broj sastanaka sveo na minimum)</a:t>
            </a:r>
          </a:p>
          <a:p>
            <a:pPr marL="171450" indent="-171450">
              <a:buFontTx/>
              <a:buChar char="-"/>
            </a:pPr>
            <a:r>
              <a:rPr lang="sr-Latn-RS" altLang="ko-KR" sz="1200" dirty="0">
                <a:solidFill>
                  <a:srgbClr val="17375E"/>
                </a:solidFill>
                <a:cs typeface="Arial" pitchFamily="34" charset="0"/>
              </a:rPr>
              <a:t>potencijalno pronalazaženje isplatljivih rešenja, predlaganje boljih ideja</a:t>
            </a:r>
            <a:endParaRPr lang="en-US" altLang="ko-KR" sz="1200" dirty="0">
              <a:solidFill>
                <a:srgbClr val="17375E"/>
              </a:solidFill>
              <a:cs typeface="Arial" pitchFamily="34" charset="0"/>
            </a:endParaRPr>
          </a:p>
        </p:txBody>
      </p:sp>
      <p:grpSp>
        <p:nvGrpSpPr>
          <p:cNvPr id="31" name="Group 30"/>
          <p:cNvGrpSpPr/>
          <p:nvPr/>
        </p:nvGrpSpPr>
        <p:grpSpPr>
          <a:xfrm>
            <a:off x="2620122" y="2417633"/>
            <a:ext cx="6185027" cy="542786"/>
            <a:chOff x="2984973" y="2023433"/>
            <a:chExt cx="5611091" cy="542786"/>
          </a:xfrm>
        </p:grpSpPr>
        <p:sp>
          <p:nvSpPr>
            <p:cNvPr id="15" name="Round Same Side Corner Rectangle 14"/>
            <p:cNvSpPr/>
            <p:nvPr/>
          </p:nvSpPr>
          <p:spPr>
            <a:xfrm rot="5400000">
              <a:off x="5719936" y="-348671"/>
              <a:ext cx="432048" cy="5320208"/>
            </a:xfrm>
            <a:prstGeom prst="round2SameRect">
              <a:avLst>
                <a:gd name="adj1" fmla="val 50000"/>
                <a:gd name="adj2" fmla="val 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rgbClr val="002060"/>
                </a:solidFill>
              </a:endParaRPr>
            </a:p>
          </p:txBody>
        </p:sp>
        <p:sp>
          <p:nvSpPr>
            <p:cNvPr id="16" name="AutoShape 92"/>
            <p:cNvSpPr>
              <a:spLocks noChangeAspect="1" noChangeArrowheads="1"/>
            </p:cNvSpPr>
            <p:nvPr/>
          </p:nvSpPr>
          <p:spPr bwMode="auto">
            <a:xfrm rot="16200000" flipH="1">
              <a:off x="3001580" y="2006826"/>
              <a:ext cx="542786" cy="576000"/>
            </a:xfrm>
            <a:prstGeom prst="ellipse">
              <a:avLst/>
            </a:prstGeom>
            <a:solidFill>
              <a:schemeClr val="bg1"/>
            </a:solidFill>
            <a:ln w="50800">
              <a:solidFill>
                <a:schemeClr val="tx2">
                  <a:lumMod val="75000"/>
                </a:schemeClr>
              </a:solidFill>
              <a:headEnd/>
              <a:tailEnd/>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endParaRPr kumimoji="0" lang="ko-KR" altLang="en-US" sz="2800" dirty="0">
                <a:solidFill>
                  <a:srgbClr val="002060"/>
                </a:solidFill>
              </a:endParaRPr>
            </a:p>
          </p:txBody>
        </p:sp>
        <p:sp>
          <p:nvSpPr>
            <p:cNvPr id="17" name="TextBox 16"/>
            <p:cNvSpPr txBox="1"/>
            <p:nvPr/>
          </p:nvSpPr>
          <p:spPr>
            <a:xfrm>
              <a:off x="2988072" y="2126767"/>
              <a:ext cx="569802" cy="369332"/>
            </a:xfrm>
            <a:prstGeom prst="rect">
              <a:avLst/>
            </a:prstGeom>
            <a:noFill/>
          </p:spPr>
          <p:txBody>
            <a:bodyPr wrap="square" tIns="0" bIns="0" rtlCol="0" anchor="ctr">
              <a:spAutoFit/>
            </a:bodyPr>
            <a:lstStyle/>
            <a:p>
              <a:pPr algn="ctr"/>
              <a:r>
                <a:rPr lang="en-US" altLang="ko-KR" sz="2400" b="1" dirty="0">
                  <a:solidFill>
                    <a:srgbClr val="002060"/>
                  </a:solidFill>
                  <a:cs typeface="Arial" pitchFamily="34" charset="0"/>
                </a:rPr>
                <a:t>02</a:t>
              </a:r>
            </a:p>
          </p:txBody>
        </p:sp>
        <p:sp>
          <p:nvSpPr>
            <p:cNvPr id="18" name="TextBox 17"/>
            <p:cNvSpPr txBox="1"/>
            <p:nvPr/>
          </p:nvSpPr>
          <p:spPr bwMode="auto">
            <a:xfrm>
              <a:off x="3667248" y="2150104"/>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sr-Latn-RS" altLang="ko-KR" sz="1400" b="1" dirty="0">
                  <a:solidFill>
                    <a:schemeClr val="bg1"/>
                  </a:solidFill>
                  <a:cs typeface="Arial" pitchFamily="34" charset="0"/>
                </a:rPr>
                <a:t>Povećanje poslovne vrednosti proizvoda</a:t>
              </a:r>
              <a:endParaRPr lang="en-US" altLang="ko-KR" sz="1400" b="1" dirty="0">
                <a:solidFill>
                  <a:schemeClr val="bg1"/>
                </a:solidFill>
                <a:cs typeface="Arial" pitchFamily="34" charset="0"/>
              </a:endParaRPr>
            </a:p>
          </p:txBody>
        </p:sp>
      </p:grpSp>
      <p:grpSp>
        <p:nvGrpSpPr>
          <p:cNvPr id="32" name="Group 31"/>
          <p:cNvGrpSpPr/>
          <p:nvPr/>
        </p:nvGrpSpPr>
        <p:grpSpPr>
          <a:xfrm>
            <a:off x="2695424" y="3879191"/>
            <a:ext cx="6105359" cy="576000"/>
            <a:chOff x="2984973" y="2915275"/>
            <a:chExt cx="5611091" cy="576000"/>
          </a:xfrm>
        </p:grpSpPr>
        <p:sp>
          <p:nvSpPr>
            <p:cNvPr id="20" name="Round Same Side Corner Rectangle 19"/>
            <p:cNvSpPr/>
            <p:nvPr/>
          </p:nvSpPr>
          <p:spPr>
            <a:xfrm rot="5400000">
              <a:off x="5719936" y="543171"/>
              <a:ext cx="432048" cy="5320208"/>
            </a:xfrm>
            <a:prstGeom prst="round2SameRect">
              <a:avLst>
                <a:gd name="adj1" fmla="val 50000"/>
                <a:gd name="adj2" fmla="val 0"/>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21" name="AutoShape 92"/>
            <p:cNvSpPr>
              <a:spLocks noChangeAspect="1" noChangeArrowheads="1"/>
            </p:cNvSpPr>
            <p:nvPr/>
          </p:nvSpPr>
          <p:spPr bwMode="auto">
            <a:xfrm rot="16200000" flipH="1">
              <a:off x="2984973" y="2915275"/>
              <a:ext cx="576000" cy="576000"/>
            </a:xfrm>
            <a:prstGeom prst="ellipse">
              <a:avLst/>
            </a:prstGeom>
            <a:solidFill>
              <a:schemeClr val="bg1"/>
            </a:solidFill>
            <a:ln w="50800">
              <a:solidFill>
                <a:schemeClr val="accent3"/>
              </a:solidFill>
              <a:headEnd/>
              <a:tailEnd/>
            </a:ln>
            <a:effectLst/>
            <a:scene3d>
              <a:camera prst="orthographicFront">
                <a:rot lat="0" lon="0" rev="0"/>
              </a:camera>
              <a:lightRig rig="contrasting" dir="t">
                <a:rot lat="0" lon="0" rev="1500000"/>
              </a:lightRig>
            </a:scene3d>
            <a:sp3d prstMaterial="metal">
              <a:bevelT w="0" h="0"/>
            </a:sp3d>
          </p:spPr>
          <p:style>
            <a:lnRef idx="1">
              <a:schemeClr val="accent1"/>
            </a:lnRef>
            <a:fillRef idx="3">
              <a:schemeClr val="accent1"/>
            </a:fillRef>
            <a:effectRef idx="2">
              <a:schemeClr val="accent1"/>
            </a:effectRef>
            <a:fontRef idx="minor">
              <a:schemeClr val="lt1"/>
            </a:fontRef>
          </p:style>
          <p:txBody>
            <a:bodyPr wrap="none"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fontAlgn="auto">
                <a:spcBef>
                  <a:spcPts val="0"/>
                </a:spcBef>
                <a:spcAft>
                  <a:spcPts val="0"/>
                </a:spcAft>
                <a:defRPr/>
              </a:pPr>
              <a:endParaRPr kumimoji="0" lang="ko-KR" altLang="en-US" sz="2800" dirty="0">
                <a:solidFill>
                  <a:schemeClr val="bg1"/>
                </a:solidFill>
              </a:endParaRPr>
            </a:p>
          </p:txBody>
        </p:sp>
        <p:sp>
          <p:nvSpPr>
            <p:cNvPr id="22" name="TextBox 21"/>
            <p:cNvSpPr txBox="1"/>
            <p:nvPr/>
          </p:nvSpPr>
          <p:spPr>
            <a:xfrm>
              <a:off x="2988072" y="3018609"/>
              <a:ext cx="569802" cy="369332"/>
            </a:xfrm>
            <a:prstGeom prst="rect">
              <a:avLst/>
            </a:prstGeom>
            <a:noFill/>
          </p:spPr>
          <p:txBody>
            <a:bodyPr wrap="square" tIns="0" bIns="0" rtlCol="0" anchor="ctr">
              <a:spAutoFit/>
            </a:bodyPr>
            <a:lstStyle/>
            <a:p>
              <a:pPr algn="ctr"/>
              <a:r>
                <a:rPr lang="en-US" altLang="ko-KR" sz="2400" b="1" dirty="0">
                  <a:solidFill>
                    <a:schemeClr val="accent3"/>
                  </a:solidFill>
                  <a:cs typeface="Arial" pitchFamily="34" charset="0"/>
                </a:rPr>
                <a:t>03</a:t>
              </a:r>
            </a:p>
          </p:txBody>
        </p:sp>
        <p:sp>
          <p:nvSpPr>
            <p:cNvPr id="23" name="TextBox 22"/>
            <p:cNvSpPr txBox="1"/>
            <p:nvPr/>
          </p:nvSpPr>
          <p:spPr bwMode="auto">
            <a:xfrm>
              <a:off x="3667248" y="3041946"/>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sr-Latn-RS" altLang="ko-KR" sz="1400" b="1" dirty="0">
                  <a:solidFill>
                    <a:schemeClr val="bg1"/>
                  </a:solidFill>
                  <a:cs typeface="Arial" pitchFamily="34" charset="0"/>
                </a:rPr>
                <a:t>Manje nesporazuma, više organizovanosti</a:t>
              </a:r>
              <a:endParaRPr lang="en-US" altLang="ko-KR" sz="1400" b="1" dirty="0">
                <a:solidFill>
                  <a:schemeClr val="bg1"/>
                </a:solidFill>
                <a:cs typeface="Arial" pitchFamily="34" charset="0"/>
              </a:endParaRPr>
            </a:p>
          </p:txBody>
        </p:sp>
      </p:grpSp>
      <p:sp>
        <p:nvSpPr>
          <p:cNvPr id="2" name="TextBox 1">
            <a:extLst>
              <a:ext uri="{FF2B5EF4-FFF2-40B4-BE49-F238E27FC236}">
                <a16:creationId xmlns:a16="http://schemas.microsoft.com/office/drawing/2014/main" id="{69F6FCAB-27F3-40F1-8B14-0B83F9BDCBC5}"/>
              </a:ext>
            </a:extLst>
          </p:cNvPr>
          <p:cNvSpPr txBox="1"/>
          <p:nvPr/>
        </p:nvSpPr>
        <p:spPr bwMode="auto">
          <a:xfrm>
            <a:off x="3921271" y="4703773"/>
            <a:ext cx="4752528" cy="307777"/>
          </a:xfrm>
          <a:prstGeom prst="rect">
            <a:avLst/>
          </a:prstGeom>
          <a:noFill/>
          <a:effectLst/>
        </p:spPr>
        <p:txBody>
          <a:bodyPr wrap="square" anchor="ctr">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r>
              <a:rPr lang="en-US" altLang="ko-KR" sz="1400" b="1" dirty="0">
                <a:solidFill>
                  <a:schemeClr val="bg1"/>
                </a:solidFill>
                <a:cs typeface="Arial" pitchFamily="34" charset="0"/>
              </a:rPr>
              <a:t>Your Text Here</a:t>
            </a:r>
          </a:p>
        </p:txBody>
      </p:sp>
      <p:sp>
        <p:nvSpPr>
          <p:cNvPr id="36" name="TextBox 35">
            <a:extLst>
              <a:ext uri="{FF2B5EF4-FFF2-40B4-BE49-F238E27FC236}">
                <a16:creationId xmlns:a16="http://schemas.microsoft.com/office/drawing/2014/main" id="{3509DCBC-77F6-4400-8DA7-1E3FE2978E29}"/>
              </a:ext>
            </a:extLst>
          </p:cNvPr>
          <p:cNvSpPr txBox="1"/>
          <p:nvPr/>
        </p:nvSpPr>
        <p:spPr>
          <a:xfrm>
            <a:off x="3254719" y="2905799"/>
            <a:ext cx="5546064" cy="1015663"/>
          </a:xfrm>
          <a:prstGeom prst="rect">
            <a:avLst/>
          </a:prstGeom>
          <a:noFill/>
        </p:spPr>
        <p:txBody>
          <a:bodyPr wrap="square" rtlCol="0" anchor="ctr">
            <a:spAutoFit/>
          </a:bodyPr>
          <a:lstStyle/>
          <a:p>
            <a:pPr marL="171450" indent="-171450">
              <a:buFontTx/>
              <a:buChar char="-"/>
            </a:pPr>
            <a:r>
              <a:rPr lang="sr-Latn-RS" altLang="ko-KR" sz="1200" dirty="0">
                <a:solidFill>
                  <a:srgbClr val="17375E"/>
                </a:solidFill>
                <a:cs typeface="Arial" pitchFamily="34" charset="0"/>
              </a:rPr>
              <a:t>određivanje prioriteta zahteva, njihovo planiranje i organizovanje (nefokusiranje na prioritete može prouzrokovati da projekat izgubi vrednost)</a:t>
            </a:r>
          </a:p>
          <a:p>
            <a:pPr marL="171450" indent="-171450">
              <a:buFontTx/>
              <a:buChar char="-"/>
            </a:pPr>
            <a:r>
              <a:rPr lang="sr-Latn-RS" altLang="ko-KR" sz="1200" dirty="0">
                <a:solidFill>
                  <a:srgbClr val="17375E"/>
                </a:solidFill>
                <a:cs typeface="Arial" pitchFamily="34" charset="0"/>
              </a:rPr>
              <a:t>dobar poslovni analitičar može otkriti nove teme za diskusiju, nove zahteve, nove ideje koje bi značajno unapredile samu organizaciju poslovanja, što bi donelo veću poslovnu vrednost samom</a:t>
            </a:r>
            <a:endParaRPr lang="en-US" altLang="ko-KR" sz="1200" dirty="0">
              <a:solidFill>
                <a:srgbClr val="17375E"/>
              </a:solidFill>
              <a:cs typeface="Arial" pitchFamily="34" charset="0"/>
            </a:endParaRPr>
          </a:p>
        </p:txBody>
      </p:sp>
      <p:sp>
        <p:nvSpPr>
          <p:cNvPr id="37" name="TextBox 36">
            <a:extLst>
              <a:ext uri="{FF2B5EF4-FFF2-40B4-BE49-F238E27FC236}">
                <a16:creationId xmlns:a16="http://schemas.microsoft.com/office/drawing/2014/main" id="{337B1188-86E7-486D-9694-531F0F3BA18F}"/>
              </a:ext>
            </a:extLst>
          </p:cNvPr>
          <p:cNvSpPr txBox="1"/>
          <p:nvPr/>
        </p:nvSpPr>
        <p:spPr>
          <a:xfrm>
            <a:off x="3372184" y="4365219"/>
            <a:ext cx="5546064" cy="646331"/>
          </a:xfrm>
          <a:prstGeom prst="rect">
            <a:avLst/>
          </a:prstGeom>
          <a:noFill/>
        </p:spPr>
        <p:txBody>
          <a:bodyPr wrap="square" rtlCol="0" anchor="ctr">
            <a:spAutoFit/>
          </a:bodyPr>
          <a:lstStyle/>
          <a:p>
            <a:pPr marL="171450" indent="-171450">
              <a:buFontTx/>
              <a:buChar char="-"/>
            </a:pPr>
            <a:r>
              <a:rPr lang="en-US" altLang="ko-KR" sz="1200" dirty="0" err="1">
                <a:solidFill>
                  <a:srgbClr val="17375E"/>
                </a:solidFill>
                <a:cs typeface="Arial" pitchFamily="34" charset="0"/>
              </a:rPr>
              <a:t>popunjava</a:t>
            </a:r>
            <a:r>
              <a:rPr lang="sr-Latn-RS" altLang="ko-KR" sz="1200" dirty="0">
                <a:solidFill>
                  <a:srgbClr val="17375E"/>
                </a:solidFill>
                <a:cs typeface="Arial" pitchFamily="34" charset="0"/>
              </a:rPr>
              <a:t>nje</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komunikacion</a:t>
            </a:r>
            <a:r>
              <a:rPr lang="sr-Latn-RS" altLang="ko-KR" sz="1200" dirty="0">
                <a:solidFill>
                  <a:srgbClr val="17375E"/>
                </a:solidFill>
                <a:cs typeface="Arial" pitchFamily="34" charset="0"/>
              </a:rPr>
              <a:t>ih</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praznin</a:t>
            </a:r>
            <a:r>
              <a:rPr lang="sr-Latn-RS" altLang="ko-KR" sz="1200" dirty="0">
                <a:solidFill>
                  <a:srgbClr val="17375E"/>
                </a:solidFill>
                <a:cs typeface="Arial" pitchFamily="34" charset="0"/>
              </a:rPr>
              <a:t>ina</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između</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različitih</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učesnika</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na</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projekt</a:t>
            </a:r>
            <a:r>
              <a:rPr lang="en-US" altLang="ko-KR" sz="1200" dirty="0">
                <a:solidFill>
                  <a:srgbClr val="17375E"/>
                </a:solidFill>
                <a:cs typeface="Arial" pitchFamily="34" charset="0"/>
              </a:rPr>
              <a:t> =&gt; </a:t>
            </a:r>
            <a:r>
              <a:rPr lang="en-US" altLang="ko-KR" sz="1200" dirty="0" err="1">
                <a:solidFill>
                  <a:srgbClr val="17375E"/>
                </a:solidFill>
                <a:cs typeface="Arial" pitchFamily="34" charset="0"/>
              </a:rPr>
              <a:t>pružanje</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maksinalne</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efikasnosti</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poslovnom</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timu</a:t>
            </a:r>
            <a:endParaRPr lang="en-US" altLang="ko-KR" sz="1200" dirty="0">
              <a:solidFill>
                <a:srgbClr val="17375E"/>
              </a:solidFill>
              <a:cs typeface="Arial" pitchFamily="34" charset="0"/>
            </a:endParaRPr>
          </a:p>
          <a:p>
            <a:pPr marL="171450" indent="-171450">
              <a:buFontTx/>
              <a:buChar char="-"/>
            </a:pPr>
            <a:r>
              <a:rPr lang="en-US" altLang="ko-KR" sz="1200" dirty="0" err="1">
                <a:solidFill>
                  <a:srgbClr val="17375E"/>
                </a:solidFill>
                <a:cs typeface="Arial" pitchFamily="34" charset="0"/>
              </a:rPr>
              <a:t>organizovanje</a:t>
            </a:r>
            <a:r>
              <a:rPr lang="en-US" altLang="ko-KR" sz="1200" dirty="0">
                <a:solidFill>
                  <a:srgbClr val="17375E"/>
                </a:solidFill>
                <a:cs typeface="Arial" pitchFamily="34" charset="0"/>
              </a:rPr>
              <a:t> mase </a:t>
            </a:r>
            <a:r>
              <a:rPr lang="en-US" altLang="ko-KR" sz="1200" dirty="0" err="1">
                <a:solidFill>
                  <a:srgbClr val="17375E"/>
                </a:solidFill>
                <a:cs typeface="Arial" pitchFamily="34" charset="0"/>
              </a:rPr>
              <a:t>informacija</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zahteva</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prioriteta</a:t>
            </a:r>
            <a:r>
              <a:rPr lang="en-US" altLang="ko-KR" sz="1200" dirty="0">
                <a:solidFill>
                  <a:srgbClr val="17375E"/>
                </a:solidFill>
                <a:cs typeface="Arial" pitchFamily="34" charset="0"/>
              </a:rPr>
              <a:t>, </a:t>
            </a:r>
            <a:r>
              <a:rPr lang="en-US" altLang="ko-KR" sz="1200" dirty="0" err="1">
                <a:solidFill>
                  <a:srgbClr val="17375E"/>
                </a:solidFill>
                <a:cs typeface="Arial" pitchFamily="34" charset="0"/>
              </a:rPr>
              <a:t>zadataka</a:t>
            </a:r>
            <a:endParaRPr lang="en-US" altLang="ko-KR" sz="1200" dirty="0">
              <a:solidFill>
                <a:srgbClr val="17375E"/>
              </a:solidFill>
              <a:cs typeface="Arial" pitchFamily="34" charset="0"/>
            </a:endParaRPr>
          </a:p>
        </p:txBody>
      </p:sp>
    </p:spTree>
    <p:extLst>
      <p:ext uri="{BB962C8B-B14F-4D97-AF65-F5344CB8AC3E}">
        <p14:creationId xmlns:p14="http://schemas.microsoft.com/office/powerpoint/2010/main" val="1095055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3"/>
          <p:cNvSpPr txBox="1">
            <a:spLocks/>
          </p:cNvSpPr>
          <p:nvPr/>
        </p:nvSpPr>
        <p:spPr>
          <a:xfrm>
            <a:off x="31692" y="-92546"/>
            <a:ext cx="5112568" cy="843558"/>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buNone/>
            </a:pPr>
            <a:r>
              <a:rPr lang="en-US" sz="2000" b="1" dirty="0" err="1">
                <a:solidFill>
                  <a:schemeClr val="tx2">
                    <a:lumMod val="75000"/>
                  </a:schemeClr>
                </a:solidFill>
                <a:latin typeface="+mj-lt"/>
                <a:cs typeface="Arial" pitchFamily="34" charset="0"/>
              </a:rPr>
              <a:t>Okru</a:t>
            </a:r>
            <a:r>
              <a:rPr lang="sr-Latn-RS" sz="2000" b="1" dirty="0">
                <a:solidFill>
                  <a:schemeClr val="tx2">
                    <a:lumMod val="75000"/>
                  </a:schemeClr>
                </a:solidFill>
                <a:latin typeface="+mj-lt"/>
                <a:cs typeface="Arial" pitchFamily="34" charset="0"/>
              </a:rPr>
              <a:t>ženje u kom poslovni analitičar radi</a:t>
            </a:r>
            <a:endParaRPr lang="en-US" altLang="ko-KR" sz="2000" b="1" dirty="0">
              <a:solidFill>
                <a:schemeClr val="tx2">
                  <a:lumMod val="75000"/>
                </a:schemeClr>
              </a:solidFill>
              <a:latin typeface="+mj-lt"/>
              <a:cs typeface="Arial" pitchFamily="34" charset="0"/>
            </a:endParaRPr>
          </a:p>
        </p:txBody>
      </p:sp>
      <p:pic>
        <p:nvPicPr>
          <p:cNvPr id="11" name="Picture 10">
            <a:extLst>
              <a:ext uri="{FF2B5EF4-FFF2-40B4-BE49-F238E27FC236}">
                <a16:creationId xmlns:a16="http://schemas.microsoft.com/office/drawing/2014/main" id="{63606B0C-03FB-4372-B862-4DC66B92E04B}"/>
              </a:ext>
            </a:extLst>
          </p:cNvPr>
          <p:cNvPicPr/>
          <p:nvPr/>
        </p:nvPicPr>
        <p:blipFill>
          <a:blip r:embed="rId2">
            <a:extLst>
              <a:ext uri="{28A0092B-C50C-407E-A947-70E740481C1C}">
                <a14:useLocalDpi xmlns:a14="http://schemas.microsoft.com/office/drawing/2010/main" val="0"/>
              </a:ext>
            </a:extLst>
          </a:blip>
          <a:stretch>
            <a:fillRect/>
          </a:stretch>
        </p:blipFill>
        <p:spPr>
          <a:xfrm>
            <a:off x="4788024" y="1486719"/>
            <a:ext cx="4383262" cy="3651870"/>
          </a:xfrm>
          <a:prstGeom prst="rect">
            <a:avLst/>
          </a:prstGeom>
        </p:spPr>
      </p:pic>
      <p:sp>
        <p:nvSpPr>
          <p:cNvPr id="12" name="TextBox 11">
            <a:extLst>
              <a:ext uri="{FF2B5EF4-FFF2-40B4-BE49-F238E27FC236}">
                <a16:creationId xmlns:a16="http://schemas.microsoft.com/office/drawing/2014/main" id="{04138895-CC36-4A0B-9E21-4578ADF433BD}"/>
              </a:ext>
            </a:extLst>
          </p:cNvPr>
          <p:cNvSpPr txBox="1"/>
          <p:nvPr/>
        </p:nvSpPr>
        <p:spPr>
          <a:xfrm>
            <a:off x="0" y="626879"/>
            <a:ext cx="4788024" cy="4324261"/>
          </a:xfrm>
          <a:prstGeom prst="rect">
            <a:avLst/>
          </a:prstGeom>
          <a:noFill/>
        </p:spPr>
        <p:txBody>
          <a:bodyPr wrap="square" rtlCol="0" anchor="ctr">
            <a:spAutoFit/>
          </a:bodyPr>
          <a:lstStyle/>
          <a:p>
            <a:r>
              <a:rPr lang="en-US" altLang="ko-KR" sz="1100" dirty="0">
                <a:solidFill>
                  <a:srgbClr val="17375E"/>
                </a:solidFill>
                <a:cs typeface="Arial" pitchFamily="34" charset="0"/>
              </a:rPr>
              <a:t>•</a:t>
            </a:r>
            <a:r>
              <a:rPr lang="sr-Latn-RS" altLang="ko-KR" sz="1100" dirty="0">
                <a:solidFill>
                  <a:srgbClr val="17375E"/>
                </a:solidFill>
                <a:cs typeface="Arial" pitchFamily="34" charset="0"/>
              </a:rPr>
              <a:t> </a:t>
            </a:r>
            <a:r>
              <a:rPr lang="en-US" altLang="ko-KR" sz="1100" b="1" dirty="0" err="1">
                <a:solidFill>
                  <a:srgbClr val="85D8DE"/>
                </a:solidFill>
                <a:cs typeface="Arial" pitchFamily="34" charset="0"/>
              </a:rPr>
              <a:t>Naručioci</a:t>
            </a:r>
            <a:r>
              <a:rPr lang="en-US" altLang="ko-KR" sz="1100" b="1" dirty="0">
                <a:solidFill>
                  <a:srgbClr val="85D8DE"/>
                </a:solidFill>
                <a:cs typeface="Arial" pitchFamily="34" charset="0"/>
              </a:rPr>
              <a:t> </a:t>
            </a:r>
            <a:r>
              <a:rPr lang="en-US" altLang="ko-KR" sz="1100" b="1" dirty="0" err="1">
                <a:solidFill>
                  <a:srgbClr val="85D8DE"/>
                </a:solidFill>
                <a:cs typeface="Arial" pitchFamily="34" charset="0"/>
              </a:rPr>
              <a:t>projekta</a:t>
            </a:r>
            <a:r>
              <a:rPr lang="en-US" altLang="ko-KR" sz="1100" b="1" dirty="0">
                <a:solidFill>
                  <a:srgbClr val="85D8DE"/>
                </a:solidFill>
                <a:cs typeface="Arial" pitchFamily="34" charset="0"/>
              </a:rPr>
              <a:t> </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su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sa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kojima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poslovni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analitičar</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treba</a:t>
            </a:r>
            <a:r>
              <a:rPr lang="en-US" altLang="ko-KR" sz="1100" dirty="0">
                <a:solidFill>
                  <a:srgbClr val="17375E"/>
                </a:solidFill>
                <a:cs typeface="Arial" pitchFamily="34" charset="0"/>
              </a:rPr>
              <a:t> da se </a:t>
            </a:r>
            <a:r>
              <a:rPr lang="en-US" altLang="ko-KR" sz="1100" dirty="0" err="1">
                <a:solidFill>
                  <a:srgbClr val="17375E"/>
                </a:solidFill>
                <a:cs typeface="Arial" pitchFamily="34" charset="0"/>
              </a:rPr>
              <a:t>dogovori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kako</a:t>
            </a:r>
            <a:r>
              <a:rPr lang="en-US" altLang="ko-KR" sz="1100" dirty="0">
                <a:solidFill>
                  <a:srgbClr val="17375E"/>
                </a:solidFill>
                <a:cs typeface="Arial" pitchFamily="34" charset="0"/>
              </a:rPr>
              <a:t> o </a:t>
            </a:r>
            <a:r>
              <a:rPr lang="en-US" altLang="ko-KR" sz="1100" dirty="0" err="1">
                <a:solidFill>
                  <a:srgbClr val="17375E"/>
                </a:solidFill>
                <a:cs typeface="Arial" pitchFamily="34" charset="0"/>
              </a:rPr>
              <a:t>glavnim</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poslovnim</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zahtevima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tako</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o </a:t>
            </a:r>
            <a:r>
              <a:rPr lang="en-US" altLang="ko-KR" sz="1100" dirty="0" err="1">
                <a:solidFill>
                  <a:srgbClr val="17375E"/>
                </a:solidFill>
                <a:cs typeface="Arial" pitchFamily="34" charset="0"/>
              </a:rPr>
              <a:t>zahtevima</a:t>
            </a:r>
            <a:r>
              <a:rPr lang="en-US" altLang="ko-KR" sz="1100" dirty="0">
                <a:solidFill>
                  <a:srgbClr val="17375E"/>
                </a:solidFill>
                <a:cs typeface="Arial" pitchFamily="34" charset="0"/>
              </a:rPr>
              <a:t> koji </a:t>
            </a:r>
            <a:r>
              <a:rPr lang="en-US" altLang="ko-KR" sz="1100" dirty="0" err="1">
                <a:solidFill>
                  <a:srgbClr val="17375E"/>
                </a:solidFill>
                <a:cs typeface="Arial" pitchFamily="34" charset="0"/>
              </a:rPr>
              <a:t>su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nekog</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nižeg</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nivoa</a:t>
            </a:r>
            <a:r>
              <a:rPr lang="en-US" altLang="ko-KR" sz="1100" dirty="0">
                <a:solidFill>
                  <a:srgbClr val="17375E"/>
                </a:solidFill>
                <a:cs typeface="Arial" pitchFamily="34" charset="0"/>
              </a:rPr>
              <a:t>. </a:t>
            </a:r>
            <a:endParaRPr lang="sr-Latn-RS" altLang="ko-KR" sz="1100" dirty="0">
              <a:solidFill>
                <a:srgbClr val="17375E"/>
              </a:solidFill>
              <a:cs typeface="Arial" pitchFamily="34" charset="0"/>
            </a:endParaRPr>
          </a:p>
          <a:p>
            <a:endParaRPr lang="en-US" altLang="ko-KR" sz="1100" dirty="0">
              <a:solidFill>
                <a:srgbClr val="17375E"/>
              </a:solidFill>
              <a:cs typeface="Arial" pitchFamily="34" charset="0"/>
            </a:endParaRPr>
          </a:p>
          <a:p>
            <a:r>
              <a:rPr lang="en-US" altLang="ko-KR" sz="1100" dirty="0">
                <a:solidFill>
                  <a:srgbClr val="17375E"/>
                </a:solidFill>
                <a:cs typeface="Arial" pitchFamily="34" charset="0"/>
              </a:rPr>
              <a:t>•</a:t>
            </a:r>
            <a:r>
              <a:rPr lang="sr-Latn-RS" altLang="ko-KR" sz="1100" dirty="0">
                <a:solidFill>
                  <a:srgbClr val="17375E"/>
                </a:solidFill>
                <a:cs typeface="Arial" pitchFamily="34" charset="0"/>
              </a:rPr>
              <a:t> </a:t>
            </a:r>
            <a:r>
              <a:rPr lang="en-US" altLang="ko-KR" sz="1100" b="1" dirty="0" err="1">
                <a:solidFill>
                  <a:srgbClr val="85D8DE"/>
                </a:solidFill>
                <a:cs typeface="Arial" pitchFamily="34" charset="0"/>
              </a:rPr>
              <a:t>Predstavnici</a:t>
            </a:r>
            <a:r>
              <a:rPr lang="en-US" altLang="ko-KR" sz="1100" b="1" dirty="0">
                <a:solidFill>
                  <a:srgbClr val="85D8DE"/>
                </a:solidFill>
                <a:cs typeface="Arial" pitchFamily="34" charset="0"/>
              </a:rPr>
              <a:t> </a:t>
            </a:r>
            <a:r>
              <a:rPr lang="en-US" altLang="ko-KR" sz="1100" b="1" dirty="0" err="1">
                <a:solidFill>
                  <a:srgbClr val="85D8DE"/>
                </a:solidFill>
                <a:cs typeface="Arial" pitchFamily="34" charset="0"/>
              </a:rPr>
              <a:t>korisnika</a:t>
            </a:r>
            <a:r>
              <a:rPr lang="en-US" altLang="ko-KR" sz="1100" b="1" dirty="0">
                <a:solidFill>
                  <a:srgbClr val="85D8DE"/>
                </a:solidFill>
                <a:cs typeface="Arial" pitchFamily="34" charset="0"/>
              </a:rPr>
              <a:t> </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učesniki</a:t>
            </a:r>
            <a:r>
              <a:rPr lang="en-US" altLang="ko-KR" sz="1100" dirty="0">
                <a:solidFill>
                  <a:srgbClr val="17375E"/>
                </a:solidFill>
                <a:cs typeface="Arial" pitchFamily="34" charset="0"/>
              </a:rPr>
              <a:t> koji </a:t>
            </a:r>
            <a:r>
              <a:rPr lang="en-US" altLang="ko-KR" sz="1100" dirty="0" err="1">
                <a:solidFill>
                  <a:srgbClr val="17375E"/>
                </a:solidFill>
                <a:cs typeface="Arial" pitchFamily="34" charset="0"/>
              </a:rPr>
              <a:t>takođe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treba</a:t>
            </a:r>
            <a:r>
              <a:rPr lang="en-US" altLang="ko-KR" sz="1100" dirty="0">
                <a:solidFill>
                  <a:srgbClr val="17375E"/>
                </a:solidFill>
                <a:cs typeface="Arial" pitchFamily="34" charset="0"/>
              </a:rPr>
              <a:t> da </a:t>
            </a:r>
            <a:r>
              <a:rPr lang="en-US" altLang="ko-KR" sz="1100" dirty="0" err="1">
                <a:solidFill>
                  <a:srgbClr val="17375E"/>
                </a:solidFill>
                <a:cs typeface="Arial" pitchFamily="34" charset="0"/>
              </a:rPr>
              <a:t>ukažu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poslovnom</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analitičaru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na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određene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korisničke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zahteve</a:t>
            </a:r>
            <a:r>
              <a:rPr lang="en-US" altLang="ko-KR" sz="1100" dirty="0">
                <a:solidFill>
                  <a:srgbClr val="17375E"/>
                </a:solidFill>
                <a:cs typeface="Arial" pitchFamily="34" charset="0"/>
              </a:rPr>
              <a:t>. </a:t>
            </a:r>
            <a:endParaRPr lang="sr-Latn-RS" altLang="ko-KR" sz="1100" dirty="0">
              <a:solidFill>
                <a:srgbClr val="17375E"/>
              </a:solidFill>
              <a:cs typeface="Arial" pitchFamily="34" charset="0"/>
            </a:endParaRPr>
          </a:p>
          <a:p>
            <a:endParaRPr lang="en-US" altLang="ko-KR" sz="1100" dirty="0">
              <a:solidFill>
                <a:srgbClr val="17375E"/>
              </a:solidFill>
              <a:cs typeface="Arial" pitchFamily="34" charset="0"/>
            </a:endParaRPr>
          </a:p>
          <a:p>
            <a:r>
              <a:rPr lang="en-US" altLang="ko-KR" sz="1100" dirty="0">
                <a:solidFill>
                  <a:srgbClr val="17375E"/>
                </a:solidFill>
                <a:cs typeface="Arial" pitchFamily="34" charset="0"/>
              </a:rPr>
              <a:t>•</a:t>
            </a:r>
            <a:r>
              <a:rPr lang="sr-Latn-RS" altLang="ko-KR" sz="1100" dirty="0">
                <a:solidFill>
                  <a:srgbClr val="17375E"/>
                </a:solidFill>
                <a:cs typeface="Arial" pitchFamily="34" charset="0"/>
              </a:rPr>
              <a:t> </a:t>
            </a:r>
            <a:r>
              <a:rPr lang="en-US" altLang="ko-KR" sz="1100" b="1" dirty="0" err="1">
                <a:solidFill>
                  <a:srgbClr val="85D8DE"/>
                </a:solidFill>
                <a:cs typeface="Arial" pitchFamily="34" charset="0"/>
              </a:rPr>
              <a:t>Drugi</a:t>
            </a:r>
            <a:r>
              <a:rPr lang="en-US" altLang="ko-KR" sz="1100" b="1" dirty="0">
                <a:solidFill>
                  <a:srgbClr val="85D8DE"/>
                </a:solidFill>
                <a:cs typeface="Arial" pitchFamily="34" charset="0"/>
              </a:rPr>
              <a:t> </a:t>
            </a:r>
            <a:r>
              <a:rPr lang="en-US" altLang="ko-KR" sz="1100" b="1" dirty="0" err="1">
                <a:solidFill>
                  <a:srgbClr val="85D8DE"/>
                </a:solidFill>
                <a:cs typeface="Arial" pitchFamily="34" charset="0"/>
              </a:rPr>
              <a:t>učesnici</a:t>
            </a:r>
            <a:r>
              <a:rPr lang="en-US" altLang="ko-KR" sz="1100" b="1" dirty="0">
                <a:solidFill>
                  <a:srgbClr val="85D8DE"/>
                </a:solidFill>
                <a:cs typeface="Arial" pitchFamily="34" charset="0"/>
              </a:rPr>
              <a:t> </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su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sa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kojima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analitičar</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razmatra</a:t>
            </a:r>
            <a:r>
              <a:rPr lang="en-US" altLang="ko-KR" sz="1100" dirty="0">
                <a:solidFill>
                  <a:srgbClr val="17375E"/>
                </a:solidFill>
                <a:cs typeface="Arial" pitchFamily="34" charset="0"/>
              </a:rPr>
              <a:t> o </a:t>
            </a:r>
            <a:r>
              <a:rPr lang="en-US" altLang="ko-KR" sz="1100" dirty="0" err="1">
                <a:solidFill>
                  <a:srgbClr val="17375E"/>
                </a:solidFill>
                <a:cs typeface="Arial" pitchFamily="34" charset="0"/>
              </a:rPr>
              <a:t>očekivanjima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kao</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potencijalnim</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ograničenjima</a:t>
            </a:r>
            <a:r>
              <a:rPr lang="en-US" altLang="ko-KR" sz="1100" dirty="0">
                <a:solidFill>
                  <a:srgbClr val="17375E"/>
                </a:solidFill>
                <a:cs typeface="Arial" pitchFamily="34" charset="0"/>
              </a:rPr>
              <a:t>. Oni </a:t>
            </a:r>
            <a:r>
              <a:rPr lang="en-US" altLang="ko-KR" sz="1100" dirty="0" err="1">
                <a:solidFill>
                  <a:srgbClr val="17375E"/>
                </a:solidFill>
                <a:cs typeface="Arial" pitchFamily="34" charset="0"/>
              </a:rPr>
              <a:t>mogu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biti</a:t>
            </a:r>
            <a:r>
              <a:rPr lang="en-US" altLang="ko-KR" sz="1100" dirty="0">
                <a:solidFill>
                  <a:srgbClr val="17375E"/>
                </a:solidFill>
                <a:cs typeface="Arial" pitchFamily="34" charset="0"/>
              </a:rPr>
              <a:t> deo </a:t>
            </a:r>
            <a:r>
              <a:rPr lang="en-US" altLang="ko-KR" sz="1100" dirty="0" err="1">
                <a:solidFill>
                  <a:srgbClr val="17375E"/>
                </a:solidFill>
                <a:cs typeface="Arial" pitchFamily="34" charset="0"/>
              </a:rPr>
              <a:t>firme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naručioca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projekta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ali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deo </a:t>
            </a:r>
            <a:r>
              <a:rPr lang="en-US" altLang="ko-KR" sz="1100" dirty="0" err="1">
                <a:solidFill>
                  <a:srgbClr val="17375E"/>
                </a:solidFill>
                <a:cs typeface="Arial" pitchFamily="34" charset="0"/>
              </a:rPr>
              <a:t>firme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koja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razvija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sam</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projekat</a:t>
            </a:r>
            <a:r>
              <a:rPr lang="en-US" altLang="ko-KR" sz="1100" dirty="0">
                <a:solidFill>
                  <a:srgbClr val="17375E"/>
                </a:solidFill>
                <a:cs typeface="Arial" pitchFamily="34" charset="0"/>
              </a:rPr>
              <a:t>. </a:t>
            </a:r>
            <a:endParaRPr lang="sr-Latn-RS" altLang="ko-KR" sz="1100" dirty="0">
              <a:solidFill>
                <a:srgbClr val="17375E"/>
              </a:solidFill>
              <a:cs typeface="Arial" pitchFamily="34" charset="0"/>
            </a:endParaRPr>
          </a:p>
          <a:p>
            <a:endParaRPr lang="en-US" altLang="ko-KR" sz="1100" dirty="0">
              <a:solidFill>
                <a:srgbClr val="17375E"/>
              </a:solidFill>
              <a:cs typeface="Arial" pitchFamily="34" charset="0"/>
            </a:endParaRPr>
          </a:p>
          <a:p>
            <a:r>
              <a:rPr lang="en-US" altLang="ko-KR" sz="1100" dirty="0">
                <a:solidFill>
                  <a:srgbClr val="17375E"/>
                </a:solidFill>
                <a:cs typeface="Arial" pitchFamily="34" charset="0"/>
              </a:rPr>
              <a:t>•</a:t>
            </a:r>
            <a:r>
              <a:rPr lang="sr-Latn-RS" altLang="ko-KR" sz="1100" dirty="0">
                <a:solidFill>
                  <a:srgbClr val="17375E"/>
                </a:solidFill>
                <a:cs typeface="Arial" pitchFamily="34" charset="0"/>
              </a:rPr>
              <a:t> </a:t>
            </a:r>
            <a:r>
              <a:rPr lang="en-US" altLang="ko-KR" sz="1100" b="1" dirty="0" err="1">
                <a:solidFill>
                  <a:srgbClr val="85D8DE"/>
                </a:solidFill>
                <a:cs typeface="Arial" pitchFamily="34" charset="0"/>
              </a:rPr>
              <a:t>Menadžer</a:t>
            </a:r>
            <a:r>
              <a:rPr lang="en-US" altLang="ko-KR" sz="1100" b="1" dirty="0">
                <a:solidFill>
                  <a:srgbClr val="85D8DE"/>
                </a:solidFill>
                <a:cs typeface="Arial" pitchFamily="34" charset="0"/>
              </a:rPr>
              <a:t> </a:t>
            </a:r>
            <a:r>
              <a:rPr lang="en-US" altLang="ko-KR" sz="1100" b="1" dirty="0" err="1">
                <a:solidFill>
                  <a:srgbClr val="85D8DE"/>
                </a:solidFill>
                <a:cs typeface="Arial" pitchFamily="34" charset="0"/>
              </a:rPr>
              <a:t>projekta</a:t>
            </a:r>
            <a:r>
              <a:rPr lang="en-US" altLang="ko-KR" sz="1100" b="1" dirty="0">
                <a:solidFill>
                  <a:srgbClr val="85D8DE"/>
                </a:solidFill>
                <a:cs typeface="Arial" pitchFamily="34" charset="0"/>
              </a:rPr>
              <a:t> </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poslovni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analitičar</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sa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menadžerom</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projekta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dogovara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veličinu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projekta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kompleksnost</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projekta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potrebno</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vreme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izvršenja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ali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zauzetost</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odnosno</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raspoloživost</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hardverskih</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softverskih</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ljudskih</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resursa</a:t>
            </a:r>
            <a:r>
              <a:rPr lang="en-US" altLang="ko-KR" sz="1100" dirty="0">
                <a:solidFill>
                  <a:srgbClr val="17375E"/>
                </a:solidFill>
                <a:cs typeface="Arial" pitchFamily="34" charset="0"/>
              </a:rPr>
              <a:t>. </a:t>
            </a:r>
            <a:endParaRPr lang="sr-Latn-RS" altLang="ko-KR" sz="1100" dirty="0">
              <a:solidFill>
                <a:srgbClr val="17375E"/>
              </a:solidFill>
              <a:cs typeface="Arial" pitchFamily="34" charset="0"/>
            </a:endParaRPr>
          </a:p>
          <a:p>
            <a:endParaRPr lang="en-US" altLang="ko-KR" sz="1100" dirty="0">
              <a:solidFill>
                <a:srgbClr val="17375E"/>
              </a:solidFill>
              <a:cs typeface="Arial" pitchFamily="34" charset="0"/>
            </a:endParaRPr>
          </a:p>
          <a:p>
            <a:r>
              <a:rPr lang="en-US" altLang="ko-KR" sz="1100" dirty="0">
                <a:solidFill>
                  <a:srgbClr val="17375E"/>
                </a:solidFill>
                <a:cs typeface="Arial" pitchFamily="34" charset="0"/>
              </a:rPr>
              <a:t>•</a:t>
            </a:r>
            <a:r>
              <a:rPr lang="sr-Latn-RS" altLang="ko-KR" sz="1100" dirty="0">
                <a:solidFill>
                  <a:srgbClr val="17375E"/>
                </a:solidFill>
                <a:cs typeface="Arial" pitchFamily="34" charset="0"/>
              </a:rPr>
              <a:t> </a:t>
            </a:r>
            <a:r>
              <a:rPr lang="en-US" altLang="ko-KR" sz="1100" b="1" dirty="0" err="1">
                <a:solidFill>
                  <a:srgbClr val="85D8DE"/>
                </a:solidFill>
                <a:cs typeface="Arial" pitchFamily="34" charset="0"/>
              </a:rPr>
              <a:t>Razvojni</a:t>
            </a:r>
            <a:r>
              <a:rPr lang="en-US" altLang="ko-KR" sz="1100" b="1" dirty="0">
                <a:solidFill>
                  <a:srgbClr val="85D8DE"/>
                </a:solidFill>
                <a:cs typeface="Arial" pitchFamily="34" charset="0"/>
              </a:rPr>
              <a:t> </a:t>
            </a:r>
            <a:r>
              <a:rPr lang="en-US" altLang="ko-KR" sz="1100" b="1" dirty="0" err="1">
                <a:solidFill>
                  <a:srgbClr val="85D8DE"/>
                </a:solidFill>
                <a:cs typeface="Arial" pitchFamily="34" charset="0"/>
              </a:rPr>
              <a:t>tim</a:t>
            </a:r>
            <a:r>
              <a:rPr lang="en-US" altLang="ko-KR" sz="1100" b="1" dirty="0">
                <a:solidFill>
                  <a:srgbClr val="85D8DE"/>
                </a:solidFill>
                <a:cs typeface="Arial" pitchFamily="34" charset="0"/>
              </a:rPr>
              <a:t> </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kao</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predstavnika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okruženja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poslovnog</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analitičara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takođe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interesuju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funkcionalni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nefunkcionalni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korisnički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zahtevi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Poslovni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analitičar</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glavni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interpretator</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predstavljač</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zahteva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naručioca</a:t>
            </a:r>
            <a:r>
              <a:rPr lang="en-US" altLang="ko-KR" sz="1100" dirty="0">
                <a:solidFill>
                  <a:srgbClr val="17375E"/>
                </a:solidFill>
                <a:cs typeface="Arial" pitchFamily="34" charset="0"/>
              </a:rPr>
              <a:t> tom </a:t>
            </a:r>
            <a:r>
              <a:rPr lang="en-US" altLang="ko-KR" sz="1100" dirty="0" err="1">
                <a:solidFill>
                  <a:srgbClr val="17375E"/>
                </a:solidFill>
                <a:cs typeface="Arial" pitchFamily="34" charset="0"/>
              </a:rPr>
              <a:t>razvojnom</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timu</a:t>
            </a:r>
            <a:r>
              <a:rPr lang="en-US" altLang="ko-KR" sz="1100" dirty="0">
                <a:solidFill>
                  <a:srgbClr val="17375E"/>
                </a:solidFill>
                <a:cs typeface="Arial" pitchFamily="34" charset="0"/>
              </a:rPr>
              <a:t>. </a:t>
            </a:r>
            <a:endParaRPr lang="sr-Latn-RS" altLang="ko-KR" sz="1100" dirty="0">
              <a:solidFill>
                <a:srgbClr val="17375E"/>
              </a:solidFill>
              <a:cs typeface="Arial" pitchFamily="34" charset="0"/>
            </a:endParaRPr>
          </a:p>
          <a:p>
            <a:endParaRPr lang="en-US" altLang="ko-KR" sz="1100" dirty="0">
              <a:solidFill>
                <a:srgbClr val="17375E"/>
              </a:solidFill>
              <a:cs typeface="Arial" pitchFamily="34" charset="0"/>
            </a:endParaRPr>
          </a:p>
          <a:p>
            <a:r>
              <a:rPr lang="en-US" altLang="ko-KR" sz="1100" dirty="0">
                <a:solidFill>
                  <a:srgbClr val="17375E"/>
                </a:solidFill>
                <a:cs typeface="Arial" pitchFamily="34" charset="0"/>
              </a:rPr>
              <a:t>•</a:t>
            </a:r>
            <a:r>
              <a:rPr lang="sr-Latn-RS" altLang="ko-KR" sz="1100" dirty="0">
                <a:solidFill>
                  <a:srgbClr val="17375E"/>
                </a:solidFill>
                <a:cs typeface="Arial" pitchFamily="34" charset="0"/>
              </a:rPr>
              <a:t> </a:t>
            </a:r>
            <a:r>
              <a:rPr lang="en-US" altLang="ko-KR" sz="1100" b="1" dirty="0">
                <a:solidFill>
                  <a:srgbClr val="85D8DE"/>
                </a:solidFill>
                <a:cs typeface="Arial" pitchFamily="34" charset="0"/>
              </a:rPr>
              <a:t>Deo </a:t>
            </a:r>
            <a:r>
              <a:rPr lang="en-US" altLang="ko-KR" sz="1100" b="1" dirty="0" err="1">
                <a:solidFill>
                  <a:srgbClr val="85D8DE"/>
                </a:solidFill>
                <a:cs typeface="Arial" pitchFamily="34" charset="0"/>
              </a:rPr>
              <a:t>tima</a:t>
            </a:r>
            <a:r>
              <a:rPr lang="en-US" altLang="ko-KR" sz="1100" b="1" dirty="0">
                <a:solidFill>
                  <a:srgbClr val="85D8DE"/>
                </a:solidFill>
                <a:cs typeface="Arial" pitchFamily="34" charset="0"/>
              </a:rPr>
              <a:t> </a:t>
            </a:r>
            <a:r>
              <a:rPr lang="en-US" altLang="ko-KR" sz="1100" b="1" dirty="0" err="1">
                <a:solidFill>
                  <a:srgbClr val="85D8DE"/>
                </a:solidFill>
                <a:cs typeface="Arial" pitchFamily="34" charset="0"/>
              </a:rPr>
              <a:t>zadužen</a:t>
            </a:r>
            <a:r>
              <a:rPr lang="en-US" altLang="ko-KR" sz="1100" b="1" dirty="0">
                <a:solidFill>
                  <a:srgbClr val="85D8DE"/>
                </a:solidFill>
                <a:cs typeface="Arial" pitchFamily="34" charset="0"/>
              </a:rPr>
              <a:t> za </a:t>
            </a:r>
            <a:r>
              <a:rPr lang="en-US" altLang="ko-KR" sz="1100" b="1" dirty="0" err="1">
                <a:solidFill>
                  <a:srgbClr val="85D8DE"/>
                </a:solidFill>
                <a:cs typeface="Arial" pitchFamily="34" charset="0"/>
              </a:rPr>
              <a:t>testiranje</a:t>
            </a:r>
            <a:r>
              <a:rPr lang="en-US" altLang="ko-KR" sz="1100" b="1" dirty="0">
                <a:solidFill>
                  <a:srgbClr val="85D8DE"/>
                </a:solidFill>
                <a:cs typeface="Arial" pitchFamily="34" charset="0"/>
              </a:rPr>
              <a:t> </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poslovni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analitičar</a:t>
            </a:r>
            <a:r>
              <a:rPr lang="en-US" altLang="ko-KR" sz="1100" dirty="0">
                <a:solidFill>
                  <a:srgbClr val="17375E"/>
                </a:solidFill>
                <a:cs typeface="Arial" pitchFamily="34" charset="0"/>
              </a:rPr>
              <a:t> je </a:t>
            </a:r>
            <a:r>
              <a:rPr lang="en-US" altLang="ko-KR" sz="1100" dirty="0" err="1">
                <a:solidFill>
                  <a:srgbClr val="17375E"/>
                </a:solidFill>
                <a:cs typeface="Arial" pitchFamily="34" charset="0"/>
              </a:rPr>
              <a:t>dužan</a:t>
            </a:r>
            <a:r>
              <a:rPr lang="en-US" altLang="ko-KR" sz="1100" dirty="0">
                <a:solidFill>
                  <a:srgbClr val="17375E"/>
                </a:solidFill>
                <a:cs typeface="Arial" pitchFamily="34" charset="0"/>
              </a:rPr>
              <a:t> da </a:t>
            </a:r>
            <a:r>
              <a:rPr lang="en-US" altLang="ko-KR" sz="1100" dirty="0" err="1">
                <a:solidFill>
                  <a:srgbClr val="17375E"/>
                </a:solidFill>
                <a:cs typeface="Arial" pitchFamily="34" charset="0"/>
              </a:rPr>
              <a:t>interpretira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funkcionalne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nefunkcionalne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korisničke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zahteve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i</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delu</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tima</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zaduženom</a:t>
            </a:r>
            <a:r>
              <a:rPr lang="en-US" altLang="ko-KR" sz="1100" dirty="0">
                <a:solidFill>
                  <a:srgbClr val="17375E"/>
                </a:solidFill>
                <a:cs typeface="Arial" pitchFamily="34" charset="0"/>
              </a:rPr>
              <a:t> za </a:t>
            </a:r>
            <a:r>
              <a:rPr lang="en-US" altLang="ko-KR" sz="1100" dirty="0" err="1">
                <a:solidFill>
                  <a:srgbClr val="17375E"/>
                </a:solidFill>
                <a:cs typeface="Arial" pitchFamily="34" charset="0"/>
              </a:rPr>
              <a:t>testiranje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kako</a:t>
            </a:r>
            <a:r>
              <a:rPr lang="en-US" altLang="ko-KR" sz="1100" dirty="0">
                <a:solidFill>
                  <a:srgbClr val="17375E"/>
                </a:solidFill>
                <a:cs typeface="Arial" pitchFamily="34" charset="0"/>
              </a:rPr>
              <a:t> bi </a:t>
            </a:r>
            <a:r>
              <a:rPr lang="en-US" altLang="ko-KR" sz="1100" dirty="0" err="1">
                <a:solidFill>
                  <a:srgbClr val="17375E"/>
                </a:solidFill>
                <a:cs typeface="Arial" pitchFamily="34" charset="0"/>
              </a:rPr>
              <a:t>samo</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testiranje</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moglo</a:t>
            </a:r>
            <a:r>
              <a:rPr lang="en-US" altLang="ko-KR" sz="1100" dirty="0">
                <a:solidFill>
                  <a:srgbClr val="17375E"/>
                </a:solidFill>
                <a:cs typeface="Arial" pitchFamily="34" charset="0"/>
              </a:rPr>
              <a:t> </a:t>
            </a:r>
            <a:r>
              <a:rPr lang="en-US" altLang="ko-KR" sz="1100" dirty="0" err="1">
                <a:solidFill>
                  <a:srgbClr val="17375E"/>
                </a:solidFill>
                <a:cs typeface="Arial" pitchFamily="34" charset="0"/>
              </a:rPr>
              <a:t>validno</a:t>
            </a:r>
            <a:r>
              <a:rPr lang="en-US" altLang="ko-KR" sz="1100" dirty="0">
                <a:solidFill>
                  <a:srgbClr val="17375E"/>
                </a:solidFill>
                <a:cs typeface="Arial" pitchFamily="34" charset="0"/>
              </a:rPr>
              <a:t> da se </a:t>
            </a:r>
            <a:r>
              <a:rPr lang="en-US" altLang="ko-KR" sz="1100" dirty="0" err="1">
                <a:solidFill>
                  <a:srgbClr val="17375E"/>
                </a:solidFill>
                <a:cs typeface="Arial" pitchFamily="34" charset="0"/>
              </a:rPr>
              <a:t>sprovede</a:t>
            </a:r>
            <a:r>
              <a:rPr lang="en-US" altLang="ko-KR" sz="1100" dirty="0">
                <a:solidFill>
                  <a:srgbClr val="17375E"/>
                </a:solidFill>
                <a:cs typeface="Arial" pitchFamily="34" charset="0"/>
              </a:rPr>
              <a:t>.</a:t>
            </a:r>
          </a:p>
        </p:txBody>
      </p:sp>
    </p:spTree>
    <p:extLst>
      <p:ext uri="{BB962C8B-B14F-4D97-AF65-F5344CB8AC3E}">
        <p14:creationId xmlns:p14="http://schemas.microsoft.com/office/powerpoint/2010/main" val="2709567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sr-Latn-RS" altLang="ko-KR" sz="2800" dirty="0">
                <a:solidFill>
                  <a:schemeClr val="tx2">
                    <a:lumMod val="75000"/>
                  </a:schemeClr>
                </a:solidFill>
              </a:rPr>
              <a:t>Alati koje poslovni analitičari svakodnevno koriste</a:t>
            </a:r>
            <a:endParaRPr lang="ko-KR" altLang="en-US" sz="2800" dirty="0">
              <a:solidFill>
                <a:schemeClr val="tx2">
                  <a:lumMod val="75000"/>
                </a:schemeClr>
              </a:solidFill>
            </a:endParaRPr>
          </a:p>
        </p:txBody>
      </p:sp>
      <p:sp>
        <p:nvSpPr>
          <p:cNvPr id="4" name="Oval 3"/>
          <p:cNvSpPr/>
          <p:nvPr/>
        </p:nvSpPr>
        <p:spPr>
          <a:xfrm>
            <a:off x="4939848" y="1161018"/>
            <a:ext cx="693414" cy="693414"/>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Oval 4"/>
          <p:cNvSpPr/>
          <p:nvPr/>
        </p:nvSpPr>
        <p:spPr>
          <a:xfrm>
            <a:off x="95226" y="1246188"/>
            <a:ext cx="693414" cy="682052"/>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6" name="Oval 5"/>
          <p:cNvSpPr/>
          <p:nvPr/>
        </p:nvSpPr>
        <p:spPr>
          <a:xfrm>
            <a:off x="4998285" y="2841938"/>
            <a:ext cx="693414" cy="693414"/>
          </a:xfrm>
          <a:prstGeom prst="ellipse">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TextBox 7"/>
          <p:cNvSpPr txBox="1"/>
          <p:nvPr/>
        </p:nvSpPr>
        <p:spPr>
          <a:xfrm>
            <a:off x="160818" y="1366987"/>
            <a:ext cx="604639" cy="430887"/>
          </a:xfrm>
          <a:prstGeom prst="rect">
            <a:avLst/>
          </a:prstGeom>
          <a:noFill/>
        </p:spPr>
        <p:txBody>
          <a:bodyPr wrap="square" tIns="0" bIns="0" rtlCol="0" anchor="ctr">
            <a:spAutoFit/>
          </a:bodyPr>
          <a:lstStyle/>
          <a:p>
            <a:r>
              <a:rPr lang="en-US" altLang="ko-KR" sz="2800" b="1" dirty="0">
                <a:solidFill>
                  <a:schemeClr val="bg1"/>
                </a:solidFill>
                <a:cs typeface="Arial" pitchFamily="34" charset="0"/>
              </a:rPr>
              <a:t>01</a:t>
            </a:r>
          </a:p>
        </p:txBody>
      </p:sp>
      <p:sp>
        <p:nvSpPr>
          <p:cNvPr id="9" name="TextBox 8"/>
          <p:cNvSpPr txBox="1"/>
          <p:nvPr/>
        </p:nvSpPr>
        <p:spPr>
          <a:xfrm>
            <a:off x="5047481" y="2931790"/>
            <a:ext cx="604639" cy="430887"/>
          </a:xfrm>
          <a:prstGeom prst="rect">
            <a:avLst/>
          </a:prstGeom>
          <a:noFill/>
        </p:spPr>
        <p:txBody>
          <a:bodyPr wrap="square" tIns="0" bIns="0" rtlCol="0" anchor="ctr">
            <a:spAutoFit/>
          </a:bodyPr>
          <a:lstStyle/>
          <a:p>
            <a:r>
              <a:rPr lang="en-US" altLang="ko-KR" sz="2800" b="1" dirty="0">
                <a:solidFill>
                  <a:schemeClr val="bg1"/>
                </a:solidFill>
                <a:cs typeface="Arial" pitchFamily="34" charset="0"/>
              </a:rPr>
              <a:t>03</a:t>
            </a:r>
          </a:p>
        </p:txBody>
      </p:sp>
      <p:sp>
        <p:nvSpPr>
          <p:cNvPr id="10" name="TextBox 9"/>
          <p:cNvSpPr txBox="1"/>
          <p:nvPr/>
        </p:nvSpPr>
        <p:spPr>
          <a:xfrm>
            <a:off x="4998285" y="1272136"/>
            <a:ext cx="604639" cy="430887"/>
          </a:xfrm>
          <a:prstGeom prst="rect">
            <a:avLst/>
          </a:prstGeom>
          <a:noFill/>
        </p:spPr>
        <p:txBody>
          <a:bodyPr wrap="square" tIns="0" bIns="0" rtlCol="0" anchor="ctr">
            <a:spAutoFit/>
          </a:bodyPr>
          <a:lstStyle/>
          <a:p>
            <a:r>
              <a:rPr lang="en-US" altLang="ko-KR" sz="2800" b="1" dirty="0">
                <a:solidFill>
                  <a:schemeClr val="bg1"/>
                </a:solidFill>
                <a:cs typeface="Arial" pitchFamily="34" charset="0"/>
              </a:rPr>
              <a:t>02</a:t>
            </a:r>
          </a:p>
        </p:txBody>
      </p:sp>
      <p:grpSp>
        <p:nvGrpSpPr>
          <p:cNvPr id="12" name="Group 11"/>
          <p:cNvGrpSpPr/>
          <p:nvPr/>
        </p:nvGrpSpPr>
        <p:grpSpPr>
          <a:xfrm>
            <a:off x="888956" y="1094443"/>
            <a:ext cx="3298750" cy="1536740"/>
            <a:chOff x="1444631" y="1493169"/>
            <a:chExt cx="3030085" cy="1379258"/>
          </a:xfrm>
        </p:grpSpPr>
        <p:sp>
          <p:nvSpPr>
            <p:cNvPr id="13" name="TextBox 12"/>
            <p:cNvSpPr txBox="1"/>
            <p:nvPr/>
          </p:nvSpPr>
          <p:spPr>
            <a:xfrm>
              <a:off x="1452426" y="1629364"/>
              <a:ext cx="2874036" cy="1243063"/>
            </a:xfrm>
            <a:prstGeom prst="rect">
              <a:avLst/>
            </a:prstGeom>
            <a:noFill/>
          </p:spPr>
          <p:txBody>
            <a:bodyPr wrap="square" rtlCol="0" anchor="ctr">
              <a:spAutoFit/>
            </a:bodyPr>
            <a:lstStyle/>
            <a:p>
              <a:r>
                <a:rPr lang="sr-Latn-RS" altLang="ko-KR" sz="1200" dirty="0">
                  <a:solidFill>
                    <a:srgbClr val="4D7C80"/>
                  </a:solidFill>
                  <a:cs typeface="Arial" pitchFamily="34" charset="0"/>
                </a:rPr>
                <a:t>- pomoću kojih je moguće formirati velike backlog-ove, vršiti raspodelu zadataka među članovima razvojnog tima, organizovati zadatke po stepenu prioriteta, pa čak i postavljati vremenska ograničenja</a:t>
              </a:r>
              <a:endParaRPr lang="en-US" altLang="ko-KR" sz="1200" dirty="0">
                <a:solidFill>
                  <a:schemeClr val="accent1">
                    <a:lumMod val="50000"/>
                  </a:schemeClr>
                </a:solidFill>
                <a:cs typeface="Arial" pitchFamily="34" charset="0"/>
              </a:endParaRPr>
            </a:p>
          </p:txBody>
        </p:sp>
        <p:sp>
          <p:nvSpPr>
            <p:cNvPr id="14" name="TextBox 13"/>
            <p:cNvSpPr txBox="1"/>
            <p:nvPr/>
          </p:nvSpPr>
          <p:spPr>
            <a:xfrm>
              <a:off x="1444631" y="1493169"/>
              <a:ext cx="3030085" cy="318969"/>
            </a:xfrm>
            <a:prstGeom prst="rect">
              <a:avLst/>
            </a:prstGeom>
            <a:noFill/>
          </p:spPr>
          <p:txBody>
            <a:bodyPr wrap="square" rtlCol="0" anchor="ctr">
              <a:spAutoFit/>
            </a:bodyPr>
            <a:lstStyle/>
            <a:p>
              <a:r>
                <a:rPr lang="sr-Latn-RS" altLang="ko-KR" sz="1200" b="1" dirty="0">
                  <a:solidFill>
                    <a:schemeClr val="tx2">
                      <a:lumMod val="75000"/>
                    </a:schemeClr>
                  </a:solidFill>
                  <a:cs typeface="Arial" pitchFamily="34" charset="0"/>
                </a:rPr>
                <a:t>Alati za upravljanje projektima</a:t>
              </a:r>
              <a:endParaRPr lang="ko-KR" altLang="en-US" sz="1200" b="1" dirty="0">
                <a:solidFill>
                  <a:schemeClr val="tx2">
                    <a:lumMod val="75000"/>
                  </a:schemeClr>
                </a:solidFill>
                <a:cs typeface="Arial" pitchFamily="34" charset="0"/>
              </a:endParaRPr>
            </a:p>
          </p:txBody>
        </p:sp>
      </p:grpSp>
      <p:grpSp>
        <p:nvGrpSpPr>
          <p:cNvPr id="15" name="Group 14"/>
          <p:cNvGrpSpPr/>
          <p:nvPr/>
        </p:nvGrpSpPr>
        <p:grpSpPr>
          <a:xfrm>
            <a:off x="5795457" y="2789889"/>
            <a:ext cx="2722487" cy="1385532"/>
            <a:chOff x="1325483" y="1660512"/>
            <a:chExt cx="4272470" cy="797202"/>
          </a:xfrm>
        </p:grpSpPr>
        <p:sp>
          <p:nvSpPr>
            <p:cNvPr id="16" name="TextBox 15"/>
            <p:cNvSpPr txBox="1"/>
            <p:nvPr/>
          </p:nvSpPr>
          <p:spPr>
            <a:xfrm>
              <a:off x="1386964" y="2223847"/>
              <a:ext cx="4149510" cy="233867"/>
            </a:xfrm>
            <a:prstGeom prst="rect">
              <a:avLst/>
            </a:prstGeom>
            <a:noFill/>
          </p:spPr>
          <p:txBody>
            <a:bodyPr wrap="square" rtlCol="0" anchor="ctr">
              <a:spAutoFit/>
            </a:bodyPr>
            <a:lstStyle/>
            <a:p>
              <a:pPr marL="171450" indent="-171450">
                <a:buFont typeface="Arial" panose="020B0604020202020204" pitchFamily="34" charset="0"/>
                <a:buChar char="•"/>
              </a:pPr>
              <a:endParaRPr lang="ko-KR" altLang="en-US" sz="1200" dirty="0">
                <a:solidFill>
                  <a:schemeClr val="accent1">
                    <a:lumMod val="50000"/>
                  </a:schemeClr>
                </a:solidFill>
                <a:cs typeface="Arial" pitchFamily="34" charset="0"/>
              </a:endParaRPr>
            </a:p>
          </p:txBody>
        </p:sp>
        <p:sp>
          <p:nvSpPr>
            <p:cNvPr id="17" name="TextBox 16"/>
            <p:cNvSpPr txBox="1"/>
            <p:nvPr/>
          </p:nvSpPr>
          <p:spPr>
            <a:xfrm>
              <a:off x="1325483" y="1660512"/>
              <a:ext cx="4272470" cy="233867"/>
            </a:xfrm>
            <a:prstGeom prst="rect">
              <a:avLst/>
            </a:prstGeom>
            <a:noFill/>
          </p:spPr>
          <p:txBody>
            <a:bodyPr wrap="square" rtlCol="0" anchor="ctr">
              <a:spAutoFit/>
            </a:bodyPr>
            <a:lstStyle/>
            <a:p>
              <a:r>
                <a:rPr lang="sr-Latn-RS" altLang="ko-KR" sz="1200" b="1" dirty="0">
                  <a:solidFill>
                    <a:schemeClr val="tx2">
                      <a:lumMod val="75000"/>
                    </a:schemeClr>
                  </a:solidFill>
                  <a:cs typeface="Arial" pitchFamily="34" charset="0"/>
                </a:rPr>
                <a:t>Alati za modeliranje</a:t>
              </a:r>
              <a:endParaRPr lang="ko-KR" altLang="en-US" sz="1200" b="1" dirty="0">
                <a:solidFill>
                  <a:schemeClr val="tx2">
                    <a:lumMod val="75000"/>
                  </a:schemeClr>
                </a:solidFill>
                <a:cs typeface="Arial" pitchFamily="34" charset="0"/>
              </a:endParaRPr>
            </a:p>
          </p:txBody>
        </p:sp>
      </p:grpSp>
      <p:grpSp>
        <p:nvGrpSpPr>
          <p:cNvPr id="18" name="Group 17"/>
          <p:cNvGrpSpPr/>
          <p:nvPr/>
        </p:nvGrpSpPr>
        <p:grpSpPr>
          <a:xfrm>
            <a:off x="5749796" y="1200925"/>
            <a:ext cx="3014987" cy="1404982"/>
            <a:chOff x="1448605" y="1596728"/>
            <a:chExt cx="3114982" cy="1243286"/>
          </a:xfrm>
        </p:grpSpPr>
        <p:sp>
          <p:nvSpPr>
            <p:cNvPr id="19" name="TextBox 18"/>
            <p:cNvSpPr txBox="1"/>
            <p:nvPr/>
          </p:nvSpPr>
          <p:spPr>
            <a:xfrm>
              <a:off x="1452636" y="1824351"/>
              <a:ext cx="3023679" cy="1015663"/>
            </a:xfrm>
            <a:prstGeom prst="rect">
              <a:avLst/>
            </a:prstGeom>
            <a:noFill/>
          </p:spPr>
          <p:txBody>
            <a:bodyPr wrap="square" rtlCol="0" anchor="ctr">
              <a:spAutoFit/>
            </a:bodyPr>
            <a:lstStyle/>
            <a:p>
              <a:r>
                <a:rPr lang="sr-Latn-RS" altLang="ko-KR" sz="1200" dirty="0">
                  <a:solidFill>
                    <a:schemeClr val="accent1">
                      <a:lumMod val="50000"/>
                    </a:schemeClr>
                  </a:solidFill>
                  <a:cs typeface="Arial" pitchFamily="34" charset="0"/>
                </a:rPr>
                <a:t>- dokumentovanje zahteva se svodi na zapisanje zahteva, ali tako da budu dobro organizovani, jasno napisani, razumljivi, kako korisnicima, tako i samom razvojnom timu </a:t>
              </a:r>
              <a:endParaRPr lang="ko-KR" altLang="en-US" sz="1200" dirty="0">
                <a:solidFill>
                  <a:schemeClr val="accent1">
                    <a:lumMod val="50000"/>
                  </a:schemeClr>
                </a:solidFill>
                <a:cs typeface="Arial" pitchFamily="34" charset="0"/>
              </a:endParaRPr>
            </a:p>
          </p:txBody>
        </p:sp>
        <p:sp>
          <p:nvSpPr>
            <p:cNvPr id="20" name="TextBox 19"/>
            <p:cNvSpPr txBox="1"/>
            <p:nvPr/>
          </p:nvSpPr>
          <p:spPr>
            <a:xfrm>
              <a:off x="1448605" y="1596728"/>
              <a:ext cx="3114982" cy="276999"/>
            </a:xfrm>
            <a:prstGeom prst="rect">
              <a:avLst/>
            </a:prstGeom>
            <a:noFill/>
          </p:spPr>
          <p:txBody>
            <a:bodyPr wrap="square" rtlCol="0" anchor="ctr">
              <a:spAutoFit/>
            </a:bodyPr>
            <a:lstStyle/>
            <a:p>
              <a:r>
                <a:rPr lang="sr-Latn-RS" altLang="ko-KR" sz="1200" b="1" dirty="0">
                  <a:solidFill>
                    <a:schemeClr val="tx2">
                      <a:lumMod val="75000"/>
                    </a:schemeClr>
                  </a:solidFill>
                  <a:cs typeface="Arial" pitchFamily="34" charset="0"/>
                </a:rPr>
                <a:t>Alati za dokumentaciju</a:t>
              </a:r>
              <a:endParaRPr lang="ko-KR" altLang="en-US" sz="1200" b="1" dirty="0">
                <a:solidFill>
                  <a:schemeClr val="tx2">
                    <a:lumMod val="75000"/>
                  </a:schemeClr>
                </a:solidFill>
                <a:cs typeface="Arial" pitchFamily="34" charset="0"/>
              </a:endParaRPr>
            </a:p>
          </p:txBody>
        </p:sp>
      </p:grpSp>
      <p:sp>
        <p:nvSpPr>
          <p:cNvPr id="27" name="TextBox 26">
            <a:extLst>
              <a:ext uri="{FF2B5EF4-FFF2-40B4-BE49-F238E27FC236}">
                <a16:creationId xmlns:a16="http://schemas.microsoft.com/office/drawing/2014/main" id="{75E035CC-9549-4344-9D59-49985C1E9F23}"/>
              </a:ext>
            </a:extLst>
          </p:cNvPr>
          <p:cNvSpPr txBox="1"/>
          <p:nvPr/>
        </p:nvSpPr>
        <p:spPr>
          <a:xfrm>
            <a:off x="5462928" y="4193248"/>
            <a:ext cx="604639" cy="430887"/>
          </a:xfrm>
          <a:prstGeom prst="rect">
            <a:avLst/>
          </a:prstGeom>
          <a:noFill/>
        </p:spPr>
        <p:txBody>
          <a:bodyPr wrap="square" tIns="0" bIns="0" rtlCol="0" anchor="ctr">
            <a:spAutoFit/>
          </a:bodyPr>
          <a:lstStyle/>
          <a:p>
            <a:r>
              <a:rPr lang="en-US" altLang="ko-KR" sz="2800" b="1" dirty="0">
                <a:solidFill>
                  <a:schemeClr val="bg1"/>
                </a:solidFill>
                <a:cs typeface="Arial" pitchFamily="34" charset="0"/>
              </a:rPr>
              <a:t>0</a:t>
            </a:r>
            <a:r>
              <a:rPr lang="sr-Latn-RS" altLang="ko-KR" sz="2800" b="1" dirty="0">
                <a:solidFill>
                  <a:schemeClr val="bg1"/>
                </a:solidFill>
                <a:cs typeface="Arial" pitchFamily="34" charset="0"/>
              </a:rPr>
              <a:t>5</a:t>
            </a:r>
            <a:endParaRPr lang="en-US" altLang="ko-KR" sz="2800" b="1" dirty="0">
              <a:solidFill>
                <a:schemeClr val="bg1"/>
              </a:solidFill>
              <a:cs typeface="Arial" pitchFamily="34" charset="0"/>
            </a:endParaRPr>
          </a:p>
        </p:txBody>
      </p:sp>
      <p:sp>
        <p:nvSpPr>
          <p:cNvPr id="32" name="TextBox 31">
            <a:extLst>
              <a:ext uri="{FF2B5EF4-FFF2-40B4-BE49-F238E27FC236}">
                <a16:creationId xmlns:a16="http://schemas.microsoft.com/office/drawing/2014/main" id="{59512315-947B-43CD-BFA9-F21A1F83D751}"/>
              </a:ext>
            </a:extLst>
          </p:cNvPr>
          <p:cNvSpPr txBox="1"/>
          <p:nvPr/>
        </p:nvSpPr>
        <p:spPr>
          <a:xfrm>
            <a:off x="5765247" y="3130639"/>
            <a:ext cx="2746655" cy="830997"/>
          </a:xfrm>
          <a:prstGeom prst="rect">
            <a:avLst/>
          </a:prstGeom>
          <a:noFill/>
        </p:spPr>
        <p:txBody>
          <a:bodyPr wrap="square" rtlCol="0" anchor="ctr">
            <a:spAutoFit/>
          </a:bodyPr>
          <a:lstStyle/>
          <a:p>
            <a:r>
              <a:rPr lang="sr-Latn-RS" altLang="ko-KR" sz="1200" dirty="0">
                <a:solidFill>
                  <a:schemeClr val="accent1">
                    <a:lumMod val="50000"/>
                  </a:schemeClr>
                </a:solidFill>
                <a:cs typeface="Arial" pitchFamily="34" charset="0"/>
              </a:rPr>
              <a:t>- a</a:t>
            </a:r>
            <a:r>
              <a:rPr lang="en-US" altLang="ko-KR" sz="1200" dirty="0">
                <a:solidFill>
                  <a:schemeClr val="accent1">
                    <a:lumMod val="50000"/>
                  </a:schemeClr>
                </a:solidFill>
                <a:cs typeface="Arial" pitchFamily="34" charset="0"/>
              </a:rPr>
              <a:t>lati za </a:t>
            </a:r>
            <a:r>
              <a:rPr lang="en-US" altLang="ko-KR" sz="1200" dirty="0" err="1">
                <a:solidFill>
                  <a:schemeClr val="accent1">
                    <a:lumMod val="50000"/>
                  </a:schemeClr>
                </a:solidFill>
                <a:cs typeface="Arial" pitchFamily="34" charset="0"/>
              </a:rPr>
              <a:t>modeliranje</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pojednostavljuju</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izgradnju</a:t>
            </a:r>
            <a:r>
              <a:rPr lang="en-US" altLang="ko-KR" sz="1200" dirty="0">
                <a:solidFill>
                  <a:schemeClr val="accent1">
                    <a:lumMod val="50000"/>
                  </a:schemeClr>
                </a:solidFill>
                <a:cs typeface="Arial" pitchFamily="34" charset="0"/>
              </a:rPr>
              <a:t> wireframe-a </a:t>
            </a:r>
            <a:r>
              <a:rPr lang="en-US" altLang="ko-KR" sz="1200" dirty="0" err="1">
                <a:solidFill>
                  <a:schemeClr val="accent1">
                    <a:lumMod val="50000"/>
                  </a:schemeClr>
                </a:solidFill>
                <a:cs typeface="Arial" pitchFamily="34" charset="0"/>
              </a:rPr>
              <a:t>sistema</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toka</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i</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organizacionih</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procesnih</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i</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mrežnih</a:t>
            </a:r>
            <a:r>
              <a:rPr lang="en-US" altLang="ko-KR" sz="1200" dirty="0">
                <a:solidFill>
                  <a:schemeClr val="accent1">
                    <a:lumMod val="50000"/>
                  </a:schemeClr>
                </a:solidFill>
                <a:cs typeface="Arial" pitchFamily="34" charset="0"/>
              </a:rPr>
              <a:t> </a:t>
            </a:r>
            <a:r>
              <a:rPr lang="en-US" altLang="ko-KR" sz="1200" dirty="0" err="1">
                <a:solidFill>
                  <a:schemeClr val="accent1">
                    <a:lumMod val="50000"/>
                  </a:schemeClr>
                </a:solidFill>
                <a:cs typeface="Arial" pitchFamily="34" charset="0"/>
              </a:rPr>
              <a:t>dijagrama</a:t>
            </a:r>
            <a:r>
              <a:rPr lang="en-US" altLang="ko-KR" sz="1200" dirty="0">
                <a:solidFill>
                  <a:schemeClr val="accent1">
                    <a:lumMod val="50000"/>
                  </a:schemeClr>
                </a:solidFill>
                <a:cs typeface="Arial" pitchFamily="34" charset="0"/>
              </a:rPr>
              <a:t>. </a:t>
            </a:r>
            <a:endParaRPr lang="ko-KR" altLang="en-US" sz="1200" dirty="0">
              <a:solidFill>
                <a:schemeClr val="accent1">
                  <a:lumMod val="50000"/>
                </a:schemeClr>
              </a:solidFill>
              <a:cs typeface="Arial" pitchFamily="34" charset="0"/>
            </a:endParaRPr>
          </a:p>
        </p:txBody>
      </p:sp>
      <p:pic>
        <p:nvPicPr>
          <p:cNvPr id="33" name="Picture 32">
            <a:extLst>
              <a:ext uri="{FF2B5EF4-FFF2-40B4-BE49-F238E27FC236}">
                <a16:creationId xmlns:a16="http://schemas.microsoft.com/office/drawing/2014/main" id="{1AD341A7-4E74-4926-9C14-717B31FDE03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88579" y="2631183"/>
            <a:ext cx="4355429" cy="2316831"/>
          </a:xfrm>
          <a:prstGeom prst="rect">
            <a:avLst/>
          </a:prstGeom>
        </p:spPr>
      </p:pic>
    </p:spTree>
    <p:extLst>
      <p:ext uri="{BB962C8B-B14F-4D97-AF65-F5344CB8AC3E}">
        <p14:creationId xmlns:p14="http://schemas.microsoft.com/office/powerpoint/2010/main" val="3239406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sr-Latn-RS" altLang="ko-KR" sz="2800" dirty="0">
                <a:solidFill>
                  <a:schemeClr val="tx2">
                    <a:lumMod val="75000"/>
                  </a:schemeClr>
                </a:solidFill>
              </a:rPr>
              <a:t>Veštine koje poseduju poslovni analitičari</a:t>
            </a:r>
            <a:endParaRPr lang="ko-KR" altLang="en-US" sz="2800" dirty="0">
              <a:solidFill>
                <a:schemeClr val="tx2">
                  <a:lumMod val="75000"/>
                </a:schemeClr>
              </a:solidFill>
            </a:endParaRPr>
          </a:p>
        </p:txBody>
      </p:sp>
      <p:sp>
        <p:nvSpPr>
          <p:cNvPr id="27" name="TextBox 26">
            <a:extLst>
              <a:ext uri="{FF2B5EF4-FFF2-40B4-BE49-F238E27FC236}">
                <a16:creationId xmlns:a16="http://schemas.microsoft.com/office/drawing/2014/main" id="{75E035CC-9549-4344-9D59-49985C1E9F23}"/>
              </a:ext>
            </a:extLst>
          </p:cNvPr>
          <p:cNvSpPr txBox="1"/>
          <p:nvPr/>
        </p:nvSpPr>
        <p:spPr>
          <a:xfrm>
            <a:off x="5462928" y="4193248"/>
            <a:ext cx="604639" cy="430887"/>
          </a:xfrm>
          <a:prstGeom prst="rect">
            <a:avLst/>
          </a:prstGeom>
          <a:noFill/>
        </p:spPr>
        <p:txBody>
          <a:bodyPr wrap="square" tIns="0" bIns="0" rtlCol="0" anchor="ctr">
            <a:spAutoFit/>
          </a:bodyPr>
          <a:lstStyle/>
          <a:p>
            <a:r>
              <a:rPr lang="en-US" altLang="ko-KR" sz="2800" b="1" dirty="0">
                <a:solidFill>
                  <a:schemeClr val="bg1"/>
                </a:solidFill>
                <a:cs typeface="Arial" pitchFamily="34" charset="0"/>
              </a:rPr>
              <a:t>0</a:t>
            </a:r>
            <a:r>
              <a:rPr lang="sr-Latn-RS" altLang="ko-KR" sz="2800" b="1" dirty="0">
                <a:solidFill>
                  <a:schemeClr val="bg1"/>
                </a:solidFill>
                <a:cs typeface="Arial" pitchFamily="34" charset="0"/>
              </a:rPr>
              <a:t>5</a:t>
            </a:r>
            <a:endParaRPr lang="en-US" altLang="ko-KR" sz="2800" b="1" dirty="0">
              <a:solidFill>
                <a:schemeClr val="bg1"/>
              </a:solidFill>
              <a:cs typeface="Arial" pitchFamily="34" charset="0"/>
            </a:endParaRPr>
          </a:p>
        </p:txBody>
      </p:sp>
      <p:pic>
        <p:nvPicPr>
          <p:cNvPr id="21" name="Picture 20">
            <a:extLst>
              <a:ext uri="{FF2B5EF4-FFF2-40B4-BE49-F238E27FC236}">
                <a16:creationId xmlns:a16="http://schemas.microsoft.com/office/drawing/2014/main" id="{79D88975-2DBD-4388-A99E-244EFDF1D4D8}"/>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5089564" y="1491630"/>
            <a:ext cx="4054436" cy="3132505"/>
          </a:xfrm>
          <a:prstGeom prst="rect">
            <a:avLst/>
          </a:prstGeom>
        </p:spPr>
      </p:pic>
      <p:sp>
        <p:nvSpPr>
          <p:cNvPr id="22" name="TextBox 21">
            <a:extLst>
              <a:ext uri="{FF2B5EF4-FFF2-40B4-BE49-F238E27FC236}">
                <a16:creationId xmlns:a16="http://schemas.microsoft.com/office/drawing/2014/main" id="{67B731B7-680F-4553-87B2-160B05B74D5B}"/>
              </a:ext>
            </a:extLst>
          </p:cNvPr>
          <p:cNvSpPr txBox="1"/>
          <p:nvPr/>
        </p:nvSpPr>
        <p:spPr>
          <a:xfrm>
            <a:off x="0" y="988516"/>
            <a:ext cx="5140908" cy="4154984"/>
          </a:xfrm>
          <a:prstGeom prst="rect">
            <a:avLst/>
          </a:prstGeom>
          <a:noFill/>
        </p:spPr>
        <p:txBody>
          <a:bodyPr wrap="square" rtlCol="0" anchor="ctr">
            <a:spAutoFit/>
          </a:bodyPr>
          <a:lstStyle/>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sr-Latn-RS" altLang="ko-KR" sz="1100" b="1" dirty="0">
                <a:solidFill>
                  <a:srgbClr val="4D7C80"/>
                </a:solidFill>
                <a:cs typeface="Arial" pitchFamily="34" charset="0"/>
              </a:rPr>
              <a:t>Komunikacija</a:t>
            </a:r>
            <a:r>
              <a:rPr lang="sr-Latn-RS" altLang="ko-KR" sz="1100" dirty="0">
                <a:solidFill>
                  <a:srgbClr val="4D7C80"/>
                </a:solidFill>
                <a:cs typeface="Arial" pitchFamily="34" charset="0"/>
              </a:rPr>
              <a:t> - Poslovni analitičari moraju biti dobri komunikatori. To znači da mogu da olakšaju radne sastanke, postavljaju dobra pitanja, slušaju odgovore (zaista slušaju) i upijaju ono što se govori. </a:t>
            </a:r>
            <a:endParaRPr lang="sr-Latn-RS" altLang="ko-KR" sz="1100" b="1" dirty="0">
              <a:solidFill>
                <a:srgbClr val="4D7C80"/>
              </a:solidFill>
              <a:cs typeface="Arial" pitchFamily="34" charset="0"/>
            </a:endParaRPr>
          </a:p>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sr-Latn-RS" altLang="ko-KR" sz="1100" b="1" dirty="0">
                <a:solidFill>
                  <a:srgbClr val="4D7C80"/>
                </a:solidFill>
                <a:cs typeface="Arial" pitchFamily="34" charset="0"/>
              </a:rPr>
              <a:t>Veštine rešavanja problema -</a:t>
            </a:r>
            <a:r>
              <a:rPr lang="sr-Latn-RS" altLang="ko-KR" sz="1100" dirty="0">
                <a:solidFill>
                  <a:srgbClr val="4D7C80"/>
                </a:solidFill>
                <a:cs typeface="Arial" pitchFamily="34" charset="0"/>
              </a:rPr>
              <a:t> poslovni analitičar treba da gleda na celokupan projekat kao jedno rešenje problema. Uloga poslovnog analitičara je da identifikuje probleme i potrebe preduzeća, da bi zatim razvio rešenja i ideje. </a:t>
            </a:r>
            <a:endParaRPr lang="en-US" altLang="ko-KR" sz="1100" dirty="0">
              <a:solidFill>
                <a:srgbClr val="4D7C80"/>
              </a:solidFill>
              <a:cs typeface="Arial" pitchFamily="34" charset="0"/>
            </a:endParaRPr>
          </a:p>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sr-Latn-RS" altLang="ko-KR" sz="1100" b="1" dirty="0">
                <a:solidFill>
                  <a:srgbClr val="4D7C80"/>
                </a:solidFill>
                <a:cs typeface="Arial" pitchFamily="34" charset="0"/>
              </a:rPr>
              <a:t>Veština kritičkog razmišljanja - </a:t>
            </a:r>
            <a:r>
              <a:rPr lang="sr-Latn-RS" altLang="ko-KR" sz="1100" dirty="0">
                <a:solidFill>
                  <a:srgbClr val="4D7C80"/>
                </a:solidFill>
                <a:cs typeface="Arial" pitchFamily="34" charset="0"/>
              </a:rPr>
              <a:t>dok otkrivaju problem koji treba rešiti, poslovni analitičari moraju osluškivati potrebe zainteresovanih strana, ali takođe kritički razmotriti te potrebe i postavljati probna pitanja dok se stvarna potreba ne iskaže i ne razume. </a:t>
            </a:r>
          </a:p>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sr-Latn-RS" altLang="ko-KR" sz="1100" b="1" dirty="0">
                <a:solidFill>
                  <a:srgbClr val="4D7C80"/>
                </a:solidFill>
                <a:cs typeface="Arial" pitchFamily="34" charset="0"/>
              </a:rPr>
              <a:t>Agilan način razmišljanja - </a:t>
            </a:r>
            <a:r>
              <a:rPr lang="sr-Latn-RS" altLang="ko-KR" sz="1100" dirty="0">
                <a:solidFill>
                  <a:srgbClr val="4D7C80"/>
                </a:solidFill>
                <a:cs typeface="Arial" pitchFamily="34" charset="0"/>
              </a:rPr>
              <a:t>usklađivanje novih informacija na osnovu postojećih i uočavanje kontradikcija, nejasnoća u zahtevima i spremnost istog trenutka na razgovor o njima.</a:t>
            </a:r>
          </a:p>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sr-Latn-RS" altLang="ko-KR" sz="1100" b="1" dirty="0">
                <a:solidFill>
                  <a:srgbClr val="4D7C80"/>
                </a:solidFill>
                <a:cs typeface="Arial" pitchFamily="34" charset="0"/>
              </a:rPr>
              <a:t>Široko domensko znanje </a:t>
            </a:r>
            <a:r>
              <a:rPr lang="sr-Latn-RS" altLang="ko-KR" sz="1100" dirty="0">
                <a:solidFill>
                  <a:srgbClr val="4D7C80"/>
                </a:solidFill>
                <a:cs typeface="Arial" pitchFamily="34" charset="0"/>
              </a:rPr>
              <a:t>– da bi se lako snašao i adaptirao u okruženju, pri startovanju novog projekta poslovni analitičari prevashodno moraju biti dobro upoznati sa njim, da ga prouče što više (koliko vreme dozvoljava) i ne smeju dozvoliti da budu nepripremljeni.</a:t>
            </a:r>
          </a:p>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en-US" altLang="ko-KR" sz="1100" b="1" dirty="0" err="1">
                <a:solidFill>
                  <a:srgbClr val="4D7C80"/>
                </a:solidFill>
                <a:cs typeface="Arial" pitchFamily="34" charset="0"/>
              </a:rPr>
              <a:t>Spremnost</a:t>
            </a:r>
            <a:r>
              <a:rPr lang="en-US" altLang="ko-KR" sz="1100" b="1" dirty="0">
                <a:solidFill>
                  <a:srgbClr val="4D7C80"/>
                </a:solidFill>
                <a:cs typeface="Arial" pitchFamily="34" charset="0"/>
              </a:rPr>
              <a:t> za </a:t>
            </a:r>
            <a:r>
              <a:rPr lang="en-US" altLang="ko-KR" sz="1100" b="1" dirty="0" err="1">
                <a:solidFill>
                  <a:srgbClr val="4D7C80"/>
                </a:solidFill>
                <a:cs typeface="Arial" pitchFamily="34" charset="0"/>
              </a:rPr>
              <a:t>kontinualnim</a:t>
            </a:r>
            <a:r>
              <a:rPr lang="en-US" altLang="ko-KR" sz="1100" b="1" dirty="0">
                <a:solidFill>
                  <a:srgbClr val="4D7C80"/>
                </a:solidFill>
                <a:cs typeface="Arial" pitchFamily="34" charset="0"/>
              </a:rPr>
              <a:t> </a:t>
            </a:r>
            <a:r>
              <a:rPr lang="en-US" altLang="ko-KR" sz="1100" b="1" dirty="0" err="1">
                <a:solidFill>
                  <a:srgbClr val="4D7C80"/>
                </a:solidFill>
                <a:cs typeface="Arial" pitchFamily="34" charset="0"/>
              </a:rPr>
              <a:t>učenjem</a:t>
            </a:r>
            <a:r>
              <a:rPr lang="en-US" altLang="ko-KR" sz="1100" b="1" dirty="0">
                <a:solidFill>
                  <a:srgbClr val="4D7C80"/>
                </a:solidFill>
                <a:cs typeface="Arial" pitchFamily="34" charset="0"/>
              </a:rPr>
              <a:t> </a:t>
            </a:r>
            <a:r>
              <a:rPr lang="en-US" altLang="ko-KR" sz="1100" dirty="0">
                <a:solidFill>
                  <a:srgbClr val="4D7C80"/>
                </a:solidFill>
                <a:cs typeface="Arial" pitchFamily="34" charset="0"/>
              </a:rPr>
              <a:t>– Problem </a:t>
            </a:r>
            <a:r>
              <a:rPr lang="en-US" altLang="ko-KR" sz="1100" dirty="0" err="1">
                <a:solidFill>
                  <a:srgbClr val="4D7C80"/>
                </a:solidFill>
                <a:cs typeface="Arial" pitchFamily="34" charset="0"/>
              </a:rPr>
              <a:t>poslovnog</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analitičara</a:t>
            </a:r>
            <a:r>
              <a:rPr lang="en-US" altLang="ko-KR" sz="1100" dirty="0">
                <a:solidFill>
                  <a:srgbClr val="4D7C80"/>
                </a:solidFill>
                <a:cs typeface="Arial" pitchFamily="34" charset="0"/>
              </a:rPr>
              <a:t> je </a:t>
            </a:r>
            <a:r>
              <a:rPr lang="en-US" altLang="ko-KR" sz="1100" dirty="0" err="1">
                <a:solidFill>
                  <a:srgbClr val="4D7C80"/>
                </a:solidFill>
                <a:cs typeface="Arial" pitchFamily="34" charset="0"/>
              </a:rPr>
              <a:t>što</a:t>
            </a:r>
            <a:r>
              <a:rPr lang="en-US" altLang="ko-KR" sz="1100" dirty="0">
                <a:solidFill>
                  <a:srgbClr val="4D7C80"/>
                </a:solidFill>
                <a:cs typeface="Arial" pitchFamily="34" charset="0"/>
              </a:rPr>
              <a:t> mora </a:t>
            </a:r>
            <a:r>
              <a:rPr lang="en-US" altLang="ko-KR" sz="1100" dirty="0" err="1">
                <a:solidFill>
                  <a:srgbClr val="4D7C80"/>
                </a:solidFill>
                <a:cs typeface="Arial" pitchFamily="34" charset="0"/>
              </a:rPr>
              <a:t>biti</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spreman</a:t>
            </a:r>
            <a:r>
              <a:rPr lang="en-US" altLang="ko-KR" sz="1100" dirty="0">
                <a:solidFill>
                  <a:srgbClr val="4D7C80"/>
                </a:solidFill>
                <a:cs typeface="Arial" pitchFamily="34" charset="0"/>
              </a:rPr>
              <a:t> da se </a:t>
            </a:r>
            <a:r>
              <a:rPr lang="en-US" altLang="ko-KR" sz="1100" dirty="0" err="1">
                <a:solidFill>
                  <a:srgbClr val="4D7C80"/>
                </a:solidFill>
                <a:cs typeface="Arial" pitchFamily="34" charset="0"/>
              </a:rPr>
              <a:t>prilagođava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različitim</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situacijama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komunicira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sa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različitim</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učesnicima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na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projektu</a:t>
            </a:r>
            <a:r>
              <a:rPr lang="en-US" altLang="ko-KR" sz="1100" dirty="0">
                <a:solidFill>
                  <a:srgbClr val="4D7C80"/>
                </a:solidFill>
                <a:cs typeface="Arial" pitchFamily="34" charset="0"/>
              </a:rPr>
              <a:t>, a pored toga </a:t>
            </a:r>
            <a:r>
              <a:rPr lang="en-US" altLang="ko-KR" sz="1100" dirty="0" err="1">
                <a:solidFill>
                  <a:srgbClr val="4D7C80"/>
                </a:solidFill>
                <a:cs typeface="Arial" pitchFamily="34" charset="0"/>
              </a:rPr>
              <a:t>i</a:t>
            </a:r>
            <a:r>
              <a:rPr lang="en-US" altLang="ko-KR" sz="1100" dirty="0">
                <a:solidFill>
                  <a:srgbClr val="4D7C80"/>
                </a:solidFill>
                <a:cs typeface="Arial" pitchFamily="34" charset="0"/>
              </a:rPr>
              <a:t> da </a:t>
            </a:r>
            <a:r>
              <a:rPr lang="en-US" altLang="ko-KR" sz="1100" dirty="0" err="1">
                <a:solidFill>
                  <a:srgbClr val="4D7C80"/>
                </a:solidFill>
                <a:cs typeface="Arial" pitchFamily="34" charset="0"/>
              </a:rPr>
              <a:t>uspešno</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barata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sa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masom</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informacija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koju</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treba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analizirati</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i</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organizovati</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Zbog</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svih</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tih</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situacija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poslovni</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analitičar</a:t>
            </a:r>
            <a:r>
              <a:rPr lang="en-US" altLang="ko-KR" sz="1100" dirty="0">
                <a:solidFill>
                  <a:srgbClr val="4D7C80"/>
                </a:solidFill>
                <a:cs typeface="Arial" pitchFamily="34" charset="0"/>
              </a:rPr>
              <a:t> mora </a:t>
            </a:r>
            <a:r>
              <a:rPr lang="en-US" altLang="ko-KR" sz="1100" dirty="0" err="1">
                <a:solidFill>
                  <a:srgbClr val="4D7C80"/>
                </a:solidFill>
                <a:cs typeface="Arial" pitchFamily="34" charset="0"/>
              </a:rPr>
              <a:t>imati</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sposobnost</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brzog</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učenja</a:t>
            </a:r>
            <a:r>
              <a:rPr lang="en-US" altLang="ko-KR" sz="1100" dirty="0">
                <a:solidFill>
                  <a:srgbClr val="4D7C80"/>
                </a:solidFill>
                <a:cs typeface="Arial" pitchFamily="34" charset="0"/>
              </a:rPr>
              <a:t>, da </a:t>
            </a:r>
            <a:r>
              <a:rPr lang="en-US" altLang="ko-KR" sz="1100" dirty="0" err="1">
                <a:solidFill>
                  <a:srgbClr val="4D7C80"/>
                </a:solidFill>
                <a:cs typeface="Arial" pitchFamily="34" charset="0"/>
              </a:rPr>
              <a:t>bude</a:t>
            </a:r>
            <a:r>
              <a:rPr lang="en-US" altLang="ko-KR" sz="1100" dirty="0">
                <a:solidFill>
                  <a:srgbClr val="4D7C80"/>
                </a:solidFill>
                <a:cs typeface="Arial" pitchFamily="34" charset="0"/>
              </a:rPr>
              <a:t> u </a:t>
            </a:r>
            <a:r>
              <a:rPr lang="en-US" altLang="ko-KR" sz="1100" dirty="0" err="1">
                <a:solidFill>
                  <a:srgbClr val="4D7C80"/>
                </a:solidFill>
                <a:cs typeface="Arial" pitchFamily="34" charset="0"/>
              </a:rPr>
              <a:t>stanju</a:t>
            </a:r>
            <a:r>
              <a:rPr lang="en-US" altLang="ko-KR" sz="1100" dirty="0">
                <a:solidFill>
                  <a:srgbClr val="4D7C80"/>
                </a:solidFill>
                <a:cs typeface="Arial" pitchFamily="34" charset="0"/>
              </a:rPr>
              <a:t> da </a:t>
            </a:r>
            <a:r>
              <a:rPr lang="en-US" altLang="ko-KR" sz="1100" dirty="0" err="1">
                <a:solidFill>
                  <a:srgbClr val="4D7C80"/>
                </a:solidFill>
                <a:cs typeface="Arial" pitchFamily="34" charset="0"/>
              </a:rPr>
              <a:t>može</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dosta</a:t>
            </a:r>
            <a:r>
              <a:rPr lang="en-US" altLang="ko-KR" sz="1100" dirty="0">
                <a:solidFill>
                  <a:srgbClr val="4D7C80"/>
                </a:solidFill>
                <a:cs typeface="Arial" pitchFamily="34" charset="0"/>
              </a:rPr>
              <a:t> toga da </a:t>
            </a:r>
            <a:r>
              <a:rPr lang="en-US" altLang="ko-KR" sz="1100" dirty="0" err="1">
                <a:solidFill>
                  <a:srgbClr val="4D7C80"/>
                </a:solidFill>
                <a:cs typeface="Arial" pitchFamily="34" charset="0"/>
              </a:rPr>
              <a:t>nauči</a:t>
            </a:r>
            <a:r>
              <a:rPr lang="en-US" altLang="ko-KR" sz="1100" dirty="0">
                <a:solidFill>
                  <a:srgbClr val="4D7C80"/>
                </a:solidFill>
                <a:cs typeface="Arial" pitchFamily="34" charset="0"/>
              </a:rPr>
              <a:t> o </a:t>
            </a:r>
            <a:r>
              <a:rPr lang="en-US" altLang="ko-KR" sz="1100" dirty="0" err="1">
                <a:solidFill>
                  <a:srgbClr val="4D7C80"/>
                </a:solidFill>
                <a:cs typeface="Arial" pitchFamily="34" charset="0"/>
              </a:rPr>
              <a:t>samom</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domenu</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aplikacije</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kako</a:t>
            </a:r>
            <a:r>
              <a:rPr lang="en-US" altLang="ko-KR" sz="1100" dirty="0">
                <a:solidFill>
                  <a:srgbClr val="4D7C80"/>
                </a:solidFill>
                <a:cs typeface="Arial" pitchFamily="34" charset="0"/>
              </a:rPr>
              <a:t> bi </a:t>
            </a:r>
            <a:r>
              <a:rPr lang="en-US" altLang="ko-KR" sz="1100" dirty="0" err="1">
                <a:solidFill>
                  <a:srgbClr val="4D7C80"/>
                </a:solidFill>
                <a:cs typeface="Arial" pitchFamily="34" charset="0"/>
              </a:rPr>
              <a:t>mogao</a:t>
            </a:r>
            <a:r>
              <a:rPr lang="en-US" altLang="ko-KR" sz="1100" dirty="0">
                <a:solidFill>
                  <a:srgbClr val="4D7C80"/>
                </a:solidFill>
                <a:cs typeface="Arial" pitchFamily="34" charset="0"/>
              </a:rPr>
              <a:t> da </a:t>
            </a:r>
            <a:r>
              <a:rPr lang="en-US" altLang="ko-KR" sz="1100" dirty="0" err="1">
                <a:solidFill>
                  <a:srgbClr val="4D7C80"/>
                </a:solidFill>
                <a:cs typeface="Arial" pitchFamily="34" charset="0"/>
              </a:rPr>
              <a:t>prikupi</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što</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više</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zahteva</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vezano</a:t>
            </a:r>
            <a:r>
              <a:rPr lang="en-US" altLang="ko-KR" sz="1100" dirty="0">
                <a:solidFill>
                  <a:srgbClr val="4D7C80"/>
                </a:solidFill>
                <a:cs typeface="Arial" pitchFamily="34" charset="0"/>
              </a:rPr>
              <a:t> za </a:t>
            </a:r>
            <a:r>
              <a:rPr lang="en-US" altLang="ko-KR" sz="1100" dirty="0" err="1">
                <a:solidFill>
                  <a:srgbClr val="4D7C80"/>
                </a:solidFill>
                <a:cs typeface="Arial" pitchFamily="34" charset="0"/>
              </a:rPr>
              <a:t>domen</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samog</a:t>
            </a:r>
            <a:r>
              <a:rPr lang="en-US" altLang="ko-KR" sz="1100" dirty="0">
                <a:solidFill>
                  <a:srgbClr val="4D7C80"/>
                </a:solidFill>
                <a:cs typeface="Arial" pitchFamily="34" charset="0"/>
              </a:rPr>
              <a:t> </a:t>
            </a:r>
            <a:r>
              <a:rPr lang="en-US" altLang="ko-KR" sz="1100" dirty="0" err="1">
                <a:solidFill>
                  <a:srgbClr val="4D7C80"/>
                </a:solidFill>
                <a:cs typeface="Arial" pitchFamily="34" charset="0"/>
              </a:rPr>
              <a:t>problema</a:t>
            </a:r>
            <a:r>
              <a:rPr lang="en-US" altLang="ko-KR" sz="1100" dirty="0">
                <a:solidFill>
                  <a:srgbClr val="4D7C80"/>
                </a:solidFill>
                <a:cs typeface="Arial" pitchFamily="34" charset="0"/>
              </a:rPr>
              <a:t> koji </a:t>
            </a:r>
            <a:r>
              <a:rPr lang="en-US" altLang="ko-KR" sz="1100" dirty="0" err="1">
                <a:solidFill>
                  <a:srgbClr val="4D7C80"/>
                </a:solidFill>
                <a:cs typeface="Arial" pitchFamily="34" charset="0"/>
              </a:rPr>
              <a:t>rešava</a:t>
            </a:r>
            <a:r>
              <a:rPr lang="en-US" altLang="ko-KR" sz="1100" dirty="0">
                <a:solidFill>
                  <a:srgbClr val="4D7C80"/>
                </a:solidFill>
                <a:cs typeface="Arial" pitchFamily="34" charset="0"/>
              </a:rPr>
              <a:t>. </a:t>
            </a:r>
          </a:p>
        </p:txBody>
      </p:sp>
    </p:spTree>
    <p:extLst>
      <p:ext uri="{BB962C8B-B14F-4D97-AF65-F5344CB8AC3E}">
        <p14:creationId xmlns:p14="http://schemas.microsoft.com/office/powerpoint/2010/main" val="2137138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B0389B-D1FB-46F6-9CC0-61E932D856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652120" cy="5143501"/>
          </a:xfrm>
          <a:prstGeom prst="rect">
            <a:avLst/>
          </a:prstGeom>
        </p:spPr>
      </p:pic>
    </p:spTree>
    <p:extLst>
      <p:ext uri="{BB962C8B-B14F-4D97-AF65-F5344CB8AC3E}">
        <p14:creationId xmlns:p14="http://schemas.microsoft.com/office/powerpoint/2010/main" val="2108083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78712" y="74603"/>
            <a:ext cx="8424936" cy="576064"/>
          </a:xfrm>
        </p:spPr>
        <p:txBody>
          <a:bodyPr anchor="ctr"/>
          <a:lstStyle/>
          <a:p>
            <a:r>
              <a:rPr lang="sr-Latn-RS" altLang="ko-KR" sz="2400" dirty="0">
                <a:solidFill>
                  <a:schemeClr val="tx2">
                    <a:lumMod val="75000"/>
                  </a:schemeClr>
                </a:solidFill>
              </a:rPr>
              <a:t>Nema tipičnog dana na poslu</a:t>
            </a:r>
            <a:endParaRPr lang="ko-KR" altLang="en-US" sz="2400" dirty="0">
              <a:solidFill>
                <a:schemeClr val="tx2">
                  <a:lumMod val="75000"/>
                </a:schemeClr>
              </a:solidFill>
            </a:endParaRPr>
          </a:p>
        </p:txBody>
      </p:sp>
      <p:sp>
        <p:nvSpPr>
          <p:cNvPr id="15" name="TextBox 14">
            <a:extLst>
              <a:ext uri="{FF2B5EF4-FFF2-40B4-BE49-F238E27FC236}">
                <a16:creationId xmlns:a16="http://schemas.microsoft.com/office/drawing/2014/main" id="{97F1C61E-CD67-4BA6-A21D-4DA375FAE9C0}"/>
              </a:ext>
            </a:extLst>
          </p:cNvPr>
          <p:cNvSpPr txBox="1"/>
          <p:nvPr/>
        </p:nvSpPr>
        <p:spPr>
          <a:xfrm>
            <a:off x="288221" y="843561"/>
            <a:ext cx="4119086" cy="3939540"/>
          </a:xfrm>
          <a:prstGeom prst="rect">
            <a:avLst/>
          </a:prstGeom>
          <a:noFill/>
        </p:spPr>
        <p:txBody>
          <a:bodyPr wrap="square" rtlCol="0" anchor="ctr">
            <a:spAutoFit/>
          </a:bodyPr>
          <a:lstStyle/>
          <a:p>
            <a:endParaRPr lang="en-US" altLang="ko-KR" sz="1200" dirty="0">
              <a:solidFill>
                <a:schemeClr val="tx1">
                  <a:lumMod val="75000"/>
                  <a:lumOff val="25000"/>
                </a:schemeClr>
              </a:solidFill>
              <a:cs typeface="Arial" pitchFamily="34" charset="0"/>
            </a:endParaRPr>
          </a:p>
          <a:p>
            <a:pPr marL="285750" indent="-285750">
              <a:buFontTx/>
              <a:buChar char="-"/>
            </a:pPr>
            <a:r>
              <a:rPr lang="sr-Latn-RS" altLang="ko-KR" sz="1400" dirty="0">
                <a:solidFill>
                  <a:srgbClr val="17375E"/>
                </a:solidFill>
                <a:cs typeface="Arial" pitchFamily="34" charset="0"/>
              </a:rPr>
              <a:t>Iako postoje tipične aktivnosti koje imaju tendenciju da se ponavljaju tokom životnog ciklusa projekta, </a:t>
            </a:r>
            <a:r>
              <a:rPr lang="sr-Latn-RS" altLang="ko-KR" sz="1400" b="1" dirty="0">
                <a:solidFill>
                  <a:srgbClr val="17375E"/>
                </a:solidFill>
                <a:cs typeface="Arial" pitchFamily="34" charset="0"/>
              </a:rPr>
              <a:t>ne postoji tipičan dan poslovnog analitičara.</a:t>
            </a:r>
          </a:p>
          <a:p>
            <a:endParaRPr lang="sr-Latn-RS" altLang="ko-KR" sz="1400" b="1"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Poslovni analitičari iskušavaju veliku količinu raznolikosti u svakodnevnom radu.</a:t>
            </a:r>
          </a:p>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Poslovna analiza nije vrsta karijere gde poslovni analitičar mora da bude nužno spreman za bilo šta, već su neočekivane situacije, promene i iznenađenja česti.</a:t>
            </a:r>
          </a:p>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Međutim, poslovni analitičar treba biti spreman na planiranje sopstvenog posla i poštovanje rokova (koje je možda sam postavio ili nametnuo).</a:t>
            </a:r>
            <a:endParaRPr lang="en-US" altLang="ko-KR" sz="1400" dirty="0">
              <a:solidFill>
                <a:srgbClr val="17375E"/>
              </a:solidFill>
              <a:cs typeface="Arial" pitchFamily="34" charset="0"/>
            </a:endParaRPr>
          </a:p>
        </p:txBody>
      </p:sp>
    </p:spTree>
    <p:extLst>
      <p:ext uri="{BB962C8B-B14F-4D97-AF65-F5344CB8AC3E}">
        <p14:creationId xmlns:p14="http://schemas.microsoft.com/office/powerpoint/2010/main" val="515427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59532" y="121570"/>
            <a:ext cx="8424936" cy="576064"/>
          </a:xfrm>
        </p:spPr>
        <p:txBody>
          <a:bodyPr anchor="ctr"/>
          <a:lstStyle/>
          <a:p>
            <a:r>
              <a:rPr lang="sr-Latn-RS" altLang="ko-KR" sz="2400" dirty="0">
                <a:solidFill>
                  <a:schemeClr val="tx2">
                    <a:lumMod val="75000"/>
                  </a:schemeClr>
                </a:solidFill>
              </a:rPr>
              <a:t>Iniciranje projekta</a:t>
            </a:r>
            <a:endParaRPr lang="ko-KR" altLang="en-US" sz="2400" dirty="0">
              <a:solidFill>
                <a:schemeClr val="tx2">
                  <a:lumMod val="75000"/>
                </a:schemeClr>
              </a:solidFill>
            </a:endParaRPr>
          </a:p>
        </p:txBody>
      </p:sp>
      <p:sp>
        <p:nvSpPr>
          <p:cNvPr id="15" name="TextBox 14">
            <a:extLst>
              <a:ext uri="{FF2B5EF4-FFF2-40B4-BE49-F238E27FC236}">
                <a16:creationId xmlns:a16="http://schemas.microsoft.com/office/drawing/2014/main" id="{97F1C61E-CD67-4BA6-A21D-4DA375FAE9C0}"/>
              </a:ext>
            </a:extLst>
          </p:cNvPr>
          <p:cNvSpPr txBox="1"/>
          <p:nvPr/>
        </p:nvSpPr>
        <p:spPr>
          <a:xfrm>
            <a:off x="107504" y="669392"/>
            <a:ext cx="5904656" cy="1785104"/>
          </a:xfrm>
          <a:prstGeom prst="rect">
            <a:avLst/>
          </a:prstGeom>
          <a:noFill/>
        </p:spPr>
        <p:txBody>
          <a:bodyPr wrap="square" rtlCol="0" anchor="ctr">
            <a:spAutoFit/>
          </a:bodyPr>
          <a:lstStyle/>
          <a:p>
            <a:endParaRPr lang="en-US" altLang="ko-KR" sz="1200" dirty="0">
              <a:solidFill>
                <a:schemeClr val="tx1">
                  <a:lumMod val="75000"/>
                  <a:lumOff val="25000"/>
                </a:schemeClr>
              </a:solidFill>
              <a:cs typeface="Arial" pitchFamily="34" charset="0"/>
            </a:endParaRPr>
          </a:p>
          <a:p>
            <a:pPr marL="285750" indent="-285750">
              <a:buFontTx/>
              <a:buChar char="-"/>
            </a:pPr>
            <a:r>
              <a:rPr lang="sr-Latn-RS" altLang="ko-KR" sz="1400" dirty="0">
                <a:solidFill>
                  <a:srgbClr val="17375E"/>
                </a:solidFill>
                <a:cs typeface="Arial" pitchFamily="34" charset="0"/>
              </a:rPr>
              <a:t>Iniciranje projekta uglavnom podrazumeva prikupljanje zahteva kako bi se stvorila bolja slika o obimu potencijalnog rešenja problema. </a:t>
            </a:r>
          </a:p>
          <a:p>
            <a:pPr marL="285750" indent="-285750">
              <a:buFontTx/>
              <a:buChar char="-"/>
            </a:pPr>
            <a:r>
              <a:rPr lang="sr-Latn-RS" altLang="ko-KR" sz="1400" dirty="0">
                <a:solidFill>
                  <a:srgbClr val="17375E"/>
                </a:solidFill>
                <a:cs typeface="Arial" pitchFamily="34" charset="0"/>
              </a:rPr>
              <a:t>Poslovni analitičar počinje da radi sa naručiocima projekta kako bi razumeo poslovne zahteve i jasno artikulisao viziju projekta za postizanje cilja. Poslovni analitičar treba da razume i uzme u obzir ideje, želje i zahteve svih zainteresovanih strana kako bi se donela jednoglasna odluka o definisanju vizije projekta</a:t>
            </a:r>
          </a:p>
        </p:txBody>
      </p:sp>
      <p:pic>
        <p:nvPicPr>
          <p:cNvPr id="8" name="Picture 7">
            <a:extLst>
              <a:ext uri="{FF2B5EF4-FFF2-40B4-BE49-F238E27FC236}">
                <a16:creationId xmlns:a16="http://schemas.microsoft.com/office/drawing/2014/main" id="{DF2AD0F1-A5AC-4284-8BE0-BBD4F5CDD7A9}"/>
              </a:ext>
            </a:extLst>
          </p:cNvPr>
          <p:cNvPicPr/>
          <p:nvPr/>
        </p:nvPicPr>
        <p:blipFill rotWithShape="1">
          <a:blip r:embed="rId2"/>
          <a:srcRect l="270" t="11563" r="-270" b="-3"/>
          <a:stretch/>
        </p:blipFill>
        <p:spPr>
          <a:xfrm>
            <a:off x="683568" y="2648983"/>
            <a:ext cx="4484886" cy="2347045"/>
          </a:xfrm>
          <a:prstGeom prst="rect">
            <a:avLst/>
          </a:prstGeom>
        </p:spPr>
      </p:pic>
    </p:spTree>
    <p:extLst>
      <p:ext uri="{BB962C8B-B14F-4D97-AF65-F5344CB8AC3E}">
        <p14:creationId xmlns:p14="http://schemas.microsoft.com/office/powerpoint/2010/main" val="1525467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59532" y="121570"/>
            <a:ext cx="8424936" cy="576064"/>
          </a:xfrm>
        </p:spPr>
        <p:txBody>
          <a:bodyPr anchor="ctr"/>
          <a:lstStyle/>
          <a:p>
            <a:r>
              <a:rPr lang="sr-Latn-RS" altLang="ko-KR" sz="2400" dirty="0">
                <a:solidFill>
                  <a:schemeClr val="tx2">
                    <a:lumMod val="75000"/>
                  </a:schemeClr>
                </a:solidFill>
              </a:rPr>
              <a:t>Iniciranje projekta</a:t>
            </a:r>
            <a:endParaRPr lang="ko-KR" altLang="en-US" sz="2400" dirty="0">
              <a:solidFill>
                <a:schemeClr val="tx2">
                  <a:lumMod val="75000"/>
                </a:schemeClr>
              </a:solidFill>
            </a:endParaRPr>
          </a:p>
        </p:txBody>
      </p:sp>
      <p:sp>
        <p:nvSpPr>
          <p:cNvPr id="15" name="TextBox 14">
            <a:extLst>
              <a:ext uri="{FF2B5EF4-FFF2-40B4-BE49-F238E27FC236}">
                <a16:creationId xmlns:a16="http://schemas.microsoft.com/office/drawing/2014/main" id="{97F1C61E-CD67-4BA6-A21D-4DA375FAE9C0}"/>
              </a:ext>
            </a:extLst>
          </p:cNvPr>
          <p:cNvSpPr txBox="1"/>
          <p:nvPr/>
        </p:nvSpPr>
        <p:spPr>
          <a:xfrm>
            <a:off x="76247" y="701783"/>
            <a:ext cx="5904656" cy="492443"/>
          </a:xfrm>
          <a:prstGeom prst="rect">
            <a:avLst/>
          </a:prstGeom>
          <a:noFill/>
        </p:spPr>
        <p:txBody>
          <a:bodyPr wrap="square" rtlCol="0" anchor="ctr">
            <a:spAutoFit/>
          </a:bodyPr>
          <a:lstStyle/>
          <a:p>
            <a:endParaRPr lang="en-US" altLang="ko-KR" sz="1200" dirty="0">
              <a:solidFill>
                <a:schemeClr val="tx1">
                  <a:lumMod val="75000"/>
                  <a:lumOff val="25000"/>
                </a:schemeClr>
              </a:solidFill>
              <a:cs typeface="Arial" pitchFamily="34" charset="0"/>
            </a:endParaRPr>
          </a:p>
          <a:p>
            <a:pPr marL="285750" indent="-285750">
              <a:buFontTx/>
              <a:buChar char="-"/>
            </a:pPr>
            <a:r>
              <a:rPr lang="sr-Latn-RS" altLang="ko-KR" sz="1400" dirty="0">
                <a:solidFill>
                  <a:srgbClr val="17375E"/>
                </a:solidFill>
                <a:cs typeface="Arial" pitchFamily="34" charset="0"/>
              </a:rPr>
              <a:t>Prikupljanje informacija se obično obavlja putem:</a:t>
            </a:r>
          </a:p>
        </p:txBody>
      </p:sp>
      <p:sp>
        <p:nvSpPr>
          <p:cNvPr id="5" name="TextBox 4">
            <a:extLst>
              <a:ext uri="{FF2B5EF4-FFF2-40B4-BE49-F238E27FC236}">
                <a16:creationId xmlns:a16="http://schemas.microsoft.com/office/drawing/2014/main" id="{7632E625-82B1-4D9D-9477-04BBEA8C7AF7}"/>
              </a:ext>
            </a:extLst>
          </p:cNvPr>
          <p:cNvSpPr txBox="1"/>
          <p:nvPr/>
        </p:nvSpPr>
        <p:spPr>
          <a:xfrm>
            <a:off x="634562" y="1319309"/>
            <a:ext cx="5089565" cy="769441"/>
          </a:xfrm>
          <a:prstGeom prst="rect">
            <a:avLst/>
          </a:prstGeom>
          <a:noFill/>
        </p:spPr>
        <p:txBody>
          <a:bodyPr wrap="square" rtlCol="0" anchor="ctr">
            <a:spAutoFit/>
          </a:bodyPr>
          <a:lstStyle/>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en-US" altLang="ko-KR" sz="1100" b="1" dirty="0">
                <a:solidFill>
                  <a:srgbClr val="4D7C80"/>
                </a:solidFill>
                <a:cs typeface="Arial" pitchFamily="34" charset="0"/>
              </a:rPr>
              <a:t>Li</a:t>
            </a:r>
            <a:r>
              <a:rPr lang="sr-Latn-RS" altLang="ko-KR" sz="1100" b="1" dirty="0">
                <a:solidFill>
                  <a:srgbClr val="4D7C80"/>
                </a:solidFill>
                <a:cs typeface="Arial" pitchFamily="34" charset="0"/>
              </a:rPr>
              <a:t>čni i grupni intervjui</a:t>
            </a:r>
          </a:p>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sr-Latn-RS" altLang="ko-KR" sz="1100" b="1" dirty="0">
                <a:solidFill>
                  <a:srgbClr val="4D7C80"/>
                </a:solidFill>
                <a:cs typeface="Arial" pitchFamily="34" charset="0"/>
              </a:rPr>
              <a:t>Upitnici</a:t>
            </a:r>
            <a:endParaRPr lang="en-US" altLang="ko-KR" sz="1100" dirty="0">
              <a:solidFill>
                <a:srgbClr val="4D7C80"/>
              </a:solidFill>
              <a:cs typeface="Arial" pitchFamily="34" charset="0"/>
            </a:endParaRPr>
          </a:p>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sr-Latn-RS" altLang="ko-KR" sz="1100" b="1" dirty="0">
                <a:solidFill>
                  <a:srgbClr val="4D7C80"/>
                </a:solidFill>
                <a:cs typeface="Arial" pitchFamily="34" charset="0"/>
              </a:rPr>
              <a:t>Analize dokumenata</a:t>
            </a:r>
            <a:endParaRPr lang="en-US" altLang="ko-KR" sz="1100" dirty="0">
              <a:solidFill>
                <a:srgbClr val="4D7C80"/>
              </a:solidFill>
              <a:cs typeface="Arial" pitchFamily="34" charset="0"/>
            </a:endParaRPr>
          </a:p>
          <a:p>
            <a:r>
              <a:rPr lang="en-US" altLang="ko-KR" sz="1100" dirty="0">
                <a:solidFill>
                  <a:srgbClr val="4D7C80"/>
                </a:solidFill>
                <a:cs typeface="Arial" pitchFamily="34" charset="0"/>
              </a:rPr>
              <a:t>•</a:t>
            </a:r>
            <a:r>
              <a:rPr lang="sr-Latn-RS" altLang="ko-KR" sz="1100" dirty="0">
                <a:solidFill>
                  <a:srgbClr val="4D7C80"/>
                </a:solidFill>
                <a:cs typeface="Arial" pitchFamily="34" charset="0"/>
              </a:rPr>
              <a:t> </a:t>
            </a:r>
            <a:r>
              <a:rPr lang="sr-Latn-RS" altLang="ko-KR" sz="1100" b="1" dirty="0">
                <a:solidFill>
                  <a:srgbClr val="4D7C80"/>
                </a:solidFill>
                <a:cs typeface="Arial" pitchFamily="34" charset="0"/>
              </a:rPr>
              <a:t>Izrada prototipa</a:t>
            </a:r>
            <a:endParaRPr lang="en-US" altLang="ko-KR" sz="1100" dirty="0">
              <a:solidFill>
                <a:srgbClr val="4D7C80"/>
              </a:solidFill>
              <a:cs typeface="Arial" pitchFamily="34" charset="0"/>
            </a:endParaRPr>
          </a:p>
        </p:txBody>
      </p:sp>
      <p:sp>
        <p:nvSpPr>
          <p:cNvPr id="10" name="TextBox 9">
            <a:extLst>
              <a:ext uri="{FF2B5EF4-FFF2-40B4-BE49-F238E27FC236}">
                <a16:creationId xmlns:a16="http://schemas.microsoft.com/office/drawing/2014/main" id="{FB1AD13C-E4C3-493B-B90E-2A662495706E}"/>
              </a:ext>
            </a:extLst>
          </p:cNvPr>
          <p:cNvSpPr txBox="1"/>
          <p:nvPr/>
        </p:nvSpPr>
        <p:spPr>
          <a:xfrm>
            <a:off x="179512" y="1981028"/>
            <a:ext cx="4608512" cy="2000548"/>
          </a:xfrm>
          <a:prstGeom prst="rect">
            <a:avLst/>
          </a:prstGeom>
          <a:noFill/>
        </p:spPr>
        <p:txBody>
          <a:bodyPr wrap="square" rtlCol="0" anchor="ctr">
            <a:spAutoFit/>
          </a:bodyPr>
          <a:lstStyle/>
          <a:p>
            <a:endParaRPr lang="en-US" altLang="ko-KR" sz="1200" dirty="0">
              <a:solidFill>
                <a:schemeClr val="tx1">
                  <a:lumMod val="75000"/>
                  <a:lumOff val="25000"/>
                </a:schemeClr>
              </a:solidFill>
              <a:cs typeface="Arial" pitchFamily="34" charset="0"/>
            </a:endParaRPr>
          </a:p>
          <a:p>
            <a:pPr marL="285750" indent="-285750">
              <a:buFontTx/>
              <a:buChar char="-"/>
            </a:pPr>
            <a:r>
              <a:rPr lang="sr-Latn-RS" altLang="ko-KR" sz="1400" dirty="0">
                <a:solidFill>
                  <a:srgbClr val="17375E"/>
                </a:solidFill>
                <a:cs typeface="Arial" pitchFamily="34" charset="0"/>
              </a:rPr>
              <a:t>Poslovni analitičari se često bave dvosmislenošću u zahtevima i informacijama i trude se da podignu nivo jasnoće na što viši nivo. Ova faza može često obuhvata iskorenjivanje suprotnih mišljenja sa zainteresovanim stranama i iznošenje svih problematičnih pitanja na videlo. </a:t>
            </a:r>
          </a:p>
          <a:p>
            <a:pPr marL="285750" indent="-285750">
              <a:buFontTx/>
              <a:buChar char="-"/>
            </a:pPr>
            <a:r>
              <a:rPr lang="sr-Latn-RS" altLang="ko-KR" sz="1400" dirty="0">
                <a:solidFill>
                  <a:srgbClr val="17375E"/>
                </a:solidFill>
                <a:cs typeface="Arial" pitchFamily="34" charset="0"/>
              </a:rPr>
              <a:t>Ova faza obuhvata puno dijaloga, razmišljanja i komunikacije. </a:t>
            </a:r>
          </a:p>
        </p:txBody>
      </p:sp>
      <p:pic>
        <p:nvPicPr>
          <p:cNvPr id="11" name="Picture 10">
            <a:extLst>
              <a:ext uri="{FF2B5EF4-FFF2-40B4-BE49-F238E27FC236}">
                <a16:creationId xmlns:a16="http://schemas.microsoft.com/office/drawing/2014/main" id="{C8281D88-798E-4E8C-B173-BEBCD3BF1CEB}"/>
              </a:ext>
            </a:extLst>
          </p:cNvPr>
          <p:cNvPicPr/>
          <p:nvPr/>
        </p:nvPicPr>
        <p:blipFill>
          <a:blip r:embed="rId2">
            <a:extLst>
              <a:ext uri="{28A0092B-C50C-407E-A947-70E740481C1C}">
                <a14:useLocalDpi xmlns:a14="http://schemas.microsoft.com/office/drawing/2010/main" val="0"/>
              </a:ext>
            </a:extLst>
          </a:blip>
          <a:stretch>
            <a:fillRect/>
          </a:stretch>
        </p:blipFill>
        <p:spPr>
          <a:xfrm>
            <a:off x="4882257" y="1623112"/>
            <a:ext cx="4261743" cy="3435846"/>
          </a:xfrm>
          <a:prstGeom prst="rect">
            <a:avLst/>
          </a:prstGeom>
        </p:spPr>
      </p:pic>
    </p:spTree>
    <p:extLst>
      <p:ext uri="{BB962C8B-B14F-4D97-AF65-F5344CB8AC3E}">
        <p14:creationId xmlns:p14="http://schemas.microsoft.com/office/powerpoint/2010/main" val="1036915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95536" y="195486"/>
            <a:ext cx="8424936" cy="576064"/>
          </a:xfrm>
        </p:spPr>
        <p:txBody>
          <a:bodyPr anchor="ctr"/>
          <a:lstStyle/>
          <a:p>
            <a:r>
              <a:rPr lang="sr-Latn-RS" altLang="ko-KR" sz="2400" dirty="0">
                <a:solidFill>
                  <a:schemeClr val="tx2">
                    <a:lumMod val="75000"/>
                  </a:schemeClr>
                </a:solidFill>
              </a:rPr>
              <a:t>Analiza i obrada zahteva</a:t>
            </a:r>
            <a:endParaRPr lang="ko-KR" altLang="en-US" sz="2400" dirty="0">
              <a:solidFill>
                <a:schemeClr val="tx2">
                  <a:lumMod val="75000"/>
                </a:schemeClr>
              </a:solidFill>
            </a:endParaRPr>
          </a:p>
        </p:txBody>
      </p:sp>
      <p:sp>
        <p:nvSpPr>
          <p:cNvPr id="15" name="TextBox 14">
            <a:extLst>
              <a:ext uri="{FF2B5EF4-FFF2-40B4-BE49-F238E27FC236}">
                <a16:creationId xmlns:a16="http://schemas.microsoft.com/office/drawing/2014/main" id="{97F1C61E-CD67-4BA6-A21D-4DA375FAE9C0}"/>
              </a:ext>
            </a:extLst>
          </p:cNvPr>
          <p:cNvSpPr txBox="1"/>
          <p:nvPr/>
        </p:nvSpPr>
        <p:spPr>
          <a:xfrm>
            <a:off x="11036" y="807844"/>
            <a:ext cx="5713092" cy="2000548"/>
          </a:xfrm>
          <a:prstGeom prst="rect">
            <a:avLst/>
          </a:prstGeom>
          <a:noFill/>
        </p:spPr>
        <p:txBody>
          <a:bodyPr wrap="square" rtlCol="0" anchor="ctr">
            <a:spAutoFit/>
          </a:bodyPr>
          <a:lstStyle/>
          <a:p>
            <a:endParaRPr lang="en-US" altLang="ko-KR" sz="1200" dirty="0">
              <a:solidFill>
                <a:schemeClr val="tx1">
                  <a:lumMod val="75000"/>
                  <a:lumOff val="25000"/>
                </a:schemeClr>
              </a:solidFill>
              <a:cs typeface="Arial" pitchFamily="34" charset="0"/>
            </a:endParaRPr>
          </a:p>
          <a:p>
            <a:pPr marL="285750" indent="-285750">
              <a:buFontTx/>
              <a:buChar char="-"/>
            </a:pPr>
            <a:r>
              <a:rPr lang="sr-Latn-RS" altLang="ko-KR" sz="1400" dirty="0">
                <a:solidFill>
                  <a:srgbClr val="17375E"/>
                </a:solidFill>
                <a:cs typeface="Arial" pitchFamily="34" charset="0"/>
              </a:rPr>
              <a:t>Analiza zahteva podrazumeva da treba pronaći zahteve koji nisu eksplicitno izrečeni od strane korisnika, nisu navedeni, ali su logička posledica zahteva koje je korisnik naveo i koje korisnik očekuje.</a:t>
            </a:r>
          </a:p>
          <a:p>
            <a:pPr marL="285750" indent="-285750">
              <a:buFontTx/>
              <a:buChar char="-"/>
            </a:pPr>
            <a:r>
              <a:rPr lang="sr-Latn-RS" altLang="ko-KR" sz="1400" dirty="0">
                <a:solidFill>
                  <a:srgbClr val="17375E"/>
                </a:solidFill>
                <a:cs typeface="Arial" pitchFamily="34" charset="0"/>
              </a:rPr>
              <a:t>Poslovni analitičar treba da identifikuje nedostatke u zahtevima, otkriva konfiltne zahteve i potvrđuje da li su svi zahtevi unutar opsega projekta, koji je definisan da će projekat da obuhvati. </a:t>
            </a:r>
          </a:p>
          <a:p>
            <a:pPr marL="285750" indent="-285750">
              <a:buFontTx/>
              <a:buChar char="-"/>
            </a:pPr>
            <a:endParaRPr lang="sr-Latn-RS" altLang="ko-KR" sz="1400" dirty="0">
              <a:solidFill>
                <a:srgbClr val="17375E"/>
              </a:solidFill>
              <a:cs typeface="Arial" pitchFamily="34" charset="0"/>
            </a:endParaRPr>
          </a:p>
        </p:txBody>
      </p:sp>
      <p:sp>
        <p:nvSpPr>
          <p:cNvPr id="10" name="TextBox 9">
            <a:extLst>
              <a:ext uri="{FF2B5EF4-FFF2-40B4-BE49-F238E27FC236}">
                <a16:creationId xmlns:a16="http://schemas.microsoft.com/office/drawing/2014/main" id="{FB1AD13C-E4C3-493B-B90E-2A662495706E}"/>
              </a:ext>
            </a:extLst>
          </p:cNvPr>
          <p:cNvSpPr txBox="1"/>
          <p:nvPr/>
        </p:nvSpPr>
        <p:spPr>
          <a:xfrm>
            <a:off x="11036" y="2732023"/>
            <a:ext cx="5569076" cy="2215991"/>
          </a:xfrm>
          <a:prstGeom prst="rect">
            <a:avLst/>
          </a:prstGeom>
          <a:noFill/>
        </p:spPr>
        <p:txBody>
          <a:bodyPr wrap="square" rtlCol="0" anchor="ctr">
            <a:spAutoFit/>
          </a:bodyPr>
          <a:lstStyle/>
          <a:p>
            <a:endParaRPr lang="en-US" altLang="ko-KR" sz="1200" dirty="0">
              <a:solidFill>
                <a:schemeClr val="tx1">
                  <a:lumMod val="75000"/>
                  <a:lumOff val="25000"/>
                </a:schemeClr>
              </a:solidFill>
              <a:cs typeface="Arial" pitchFamily="34" charset="0"/>
            </a:endParaRPr>
          </a:p>
          <a:p>
            <a:pPr marL="285750" indent="-285750">
              <a:buFontTx/>
              <a:buChar char="-"/>
            </a:pPr>
            <a:r>
              <a:rPr lang="sr-Latn-RS" altLang="ko-KR" sz="1400" dirty="0">
                <a:solidFill>
                  <a:srgbClr val="17375E"/>
                </a:solidFill>
                <a:cs typeface="Arial" pitchFamily="34" charset="0"/>
              </a:rPr>
              <a:t>Primarni rad poslovnog analitičara u fazi obrade zahteva podrazumeva posvećeno detaljnije istraživanje određenih delova projekta, izradom vizuelnih modela, izradom dokumenata o zahtevima i pregleđivanjem istih sa razvojnim timom. </a:t>
            </a:r>
          </a:p>
          <a:p>
            <a:pPr marL="285750" indent="-285750">
              <a:buFontTx/>
              <a:buChar char="-"/>
            </a:pPr>
            <a:r>
              <a:rPr lang="sr-Latn-RS" altLang="ko-KR" sz="1400" dirty="0">
                <a:solidFill>
                  <a:srgbClr val="17375E"/>
                </a:solidFill>
                <a:cs typeface="Arial" pitchFamily="34" charset="0"/>
              </a:rPr>
              <a:t>Elaboracija je faza u kojoj se svaki detalj pribavljenih zahteva diskutuje i demonstrira naručiocima projekta kroz različite artifakte kao što su FSD(dokument o funckionalnoj specifikaciji), workflow dijagrami, swimlane dijagrami, makete, prototipi i drugi. </a:t>
            </a:r>
          </a:p>
          <a:p>
            <a:pPr marL="285750" indent="-285750">
              <a:buFontTx/>
              <a:buChar char="-"/>
            </a:pPr>
            <a:endParaRPr lang="sr-Latn-RS" altLang="ko-KR" sz="1400" dirty="0">
              <a:solidFill>
                <a:srgbClr val="17375E"/>
              </a:solidFill>
              <a:cs typeface="Arial" pitchFamily="34" charset="0"/>
            </a:endParaRPr>
          </a:p>
        </p:txBody>
      </p:sp>
    </p:spTree>
    <p:extLst>
      <p:ext uri="{BB962C8B-B14F-4D97-AF65-F5344CB8AC3E}">
        <p14:creationId xmlns:p14="http://schemas.microsoft.com/office/powerpoint/2010/main" val="3254014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51520" y="195486"/>
            <a:ext cx="8424936" cy="576064"/>
          </a:xfrm>
        </p:spPr>
        <p:txBody>
          <a:bodyPr anchor="ctr"/>
          <a:lstStyle/>
          <a:p>
            <a:r>
              <a:rPr lang="sr-Latn-RS" altLang="ko-KR" sz="2400" dirty="0">
                <a:solidFill>
                  <a:schemeClr val="tx2">
                    <a:lumMod val="75000"/>
                  </a:schemeClr>
                </a:solidFill>
              </a:rPr>
              <a:t>Dokumentovanje i prezentovanje zahteva</a:t>
            </a:r>
            <a:endParaRPr lang="ko-KR" altLang="en-US" sz="2400" dirty="0">
              <a:solidFill>
                <a:schemeClr val="tx2">
                  <a:lumMod val="75000"/>
                </a:schemeClr>
              </a:solidFill>
            </a:endParaRPr>
          </a:p>
        </p:txBody>
      </p:sp>
      <p:sp>
        <p:nvSpPr>
          <p:cNvPr id="10" name="TextBox 9">
            <a:extLst>
              <a:ext uri="{FF2B5EF4-FFF2-40B4-BE49-F238E27FC236}">
                <a16:creationId xmlns:a16="http://schemas.microsoft.com/office/drawing/2014/main" id="{FB1AD13C-E4C3-493B-B90E-2A662495706E}"/>
              </a:ext>
            </a:extLst>
          </p:cNvPr>
          <p:cNvSpPr txBox="1"/>
          <p:nvPr/>
        </p:nvSpPr>
        <p:spPr>
          <a:xfrm>
            <a:off x="107504" y="1275606"/>
            <a:ext cx="5655735" cy="2031325"/>
          </a:xfrm>
          <a:prstGeom prst="rect">
            <a:avLst/>
          </a:prstGeom>
          <a:noFill/>
        </p:spPr>
        <p:txBody>
          <a:bodyPr wrap="square" rtlCol="0" anchor="ctr">
            <a:spAutoFit/>
          </a:bodyPr>
          <a:lstStyle/>
          <a:p>
            <a:pPr marL="285750" indent="-285750">
              <a:buFontTx/>
              <a:buChar char="-"/>
            </a:pPr>
            <a:r>
              <a:rPr lang="sr-Latn-RS" altLang="ko-KR" sz="1400" dirty="0">
                <a:solidFill>
                  <a:srgbClr val="17375E"/>
                </a:solidFill>
                <a:cs typeface="Arial" pitchFamily="34" charset="0"/>
              </a:rPr>
              <a:t>Nakon analize zahteva, zahteve je potrebno dokumentovati. Kod dokumentovanja zahteva glavna ideja je zapisati zahteve, ali tako da budu dobro organizovani, jasno napisani, razumljivi, kako korisnicima, tako i samom razvojnom timu i da budu navedeni tako da opisuju rešenje poslovnog problema korisnika</a:t>
            </a:r>
          </a:p>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Prezentovanje dokumentovanih zahteva učesnicima na projektu u cilju da se svi učesnici slože da su to zahtevi koji su oni zaista zahtevali. </a:t>
            </a:r>
          </a:p>
        </p:txBody>
      </p:sp>
    </p:spTree>
    <p:extLst>
      <p:ext uri="{BB962C8B-B14F-4D97-AF65-F5344CB8AC3E}">
        <p14:creationId xmlns:p14="http://schemas.microsoft.com/office/powerpoint/2010/main" val="3760451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716016" y="77579"/>
            <a:ext cx="4248472" cy="576064"/>
          </a:xfrm>
        </p:spPr>
        <p:txBody>
          <a:bodyPr/>
          <a:lstStyle/>
          <a:p>
            <a:r>
              <a:rPr lang="sr-Latn-RS" altLang="ko-KR" sz="2400" b="1" dirty="0">
                <a:solidFill>
                  <a:srgbClr val="17375E"/>
                </a:solidFill>
              </a:rPr>
              <a:t>Implementacija projekta</a:t>
            </a:r>
            <a:endParaRPr lang="ko-KR" altLang="en-US" sz="2400" b="1" dirty="0">
              <a:solidFill>
                <a:srgbClr val="17375E"/>
              </a:solidFill>
            </a:endParaRPr>
          </a:p>
        </p:txBody>
      </p:sp>
      <p:sp>
        <p:nvSpPr>
          <p:cNvPr id="18" name="TextBox 17">
            <a:extLst>
              <a:ext uri="{FF2B5EF4-FFF2-40B4-BE49-F238E27FC236}">
                <a16:creationId xmlns:a16="http://schemas.microsoft.com/office/drawing/2014/main" id="{FC45F87C-9275-47C7-B214-55CBE2641C4C}"/>
              </a:ext>
            </a:extLst>
          </p:cNvPr>
          <p:cNvSpPr txBox="1"/>
          <p:nvPr/>
        </p:nvSpPr>
        <p:spPr>
          <a:xfrm>
            <a:off x="4283968" y="653643"/>
            <a:ext cx="4791639" cy="4185761"/>
          </a:xfrm>
          <a:prstGeom prst="rect">
            <a:avLst/>
          </a:prstGeom>
          <a:noFill/>
        </p:spPr>
        <p:txBody>
          <a:bodyPr wrap="square" rtlCol="0" anchor="ctr">
            <a:spAutoFit/>
          </a:bodyPr>
          <a:lstStyle/>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Dok programeri implementiraju projekat, poslovni analitičari se uglavnom bave diskusijama ili formalnim izveštajima, kako bi potvrdili da se poslovni zahtevi ispunjavaju, i da su zaista pokriveni u praksi</a:t>
            </a:r>
          </a:p>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 U toku ove faze poslovni analitičari sarađuju dosta sa programerima i testerima, oko funkcionalnih i nefunkcionalnih zahteva korisnika, objašnjavajući im nedoumice i rešavajući probleme koji se javljaju u traženih zahtevima, pojašnjavajući im na koji način i šta treba da se napravi</a:t>
            </a:r>
          </a:p>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Tokom same implementacije, sam projekat mogu zadesiti i problemi. U takvim situacijama zadatak poslovnog analitičara je da zakaže sastanak sa timom kako bi ga sproveo kroz potencijalna rešenja problema ili preispitivanje korisničkih zahteva. </a:t>
            </a:r>
          </a:p>
          <a:p>
            <a:pPr marL="285750" indent="-285750">
              <a:buFontTx/>
              <a:buChar char="-"/>
            </a:pPr>
            <a:endParaRPr lang="sr-Latn-RS" altLang="ko-KR" sz="1400" dirty="0">
              <a:solidFill>
                <a:srgbClr val="17375E"/>
              </a:solidFill>
              <a:cs typeface="Arial" pitchFamily="34" charset="0"/>
            </a:endParaRPr>
          </a:p>
        </p:txBody>
      </p:sp>
    </p:spTree>
    <p:extLst>
      <p:ext uri="{BB962C8B-B14F-4D97-AF65-F5344CB8AC3E}">
        <p14:creationId xmlns:p14="http://schemas.microsoft.com/office/powerpoint/2010/main" val="3020519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sr-Latn-RS" altLang="ko-KR" sz="3200" dirty="0"/>
              <a:t>Najčešća pitanja</a:t>
            </a:r>
            <a:endParaRPr lang="ko-KR" altLang="en-US" sz="3200" dirty="0"/>
          </a:p>
        </p:txBody>
      </p:sp>
      <p:sp>
        <p:nvSpPr>
          <p:cNvPr id="3" name="Text Placeholder 2"/>
          <p:cNvSpPr>
            <a:spLocks noGrp="1"/>
          </p:cNvSpPr>
          <p:nvPr>
            <p:ph type="body" sz="quarter" idx="11"/>
          </p:nvPr>
        </p:nvSpPr>
        <p:spPr/>
        <p:txBody>
          <a:bodyPr/>
          <a:lstStyle/>
          <a:p>
            <a:pPr lvl="0"/>
            <a:r>
              <a:rPr lang="sr-Latn-RS" altLang="ko-KR" b="1" dirty="0"/>
              <a:t>o poslovnim analitičarima</a:t>
            </a:r>
            <a:endParaRPr lang="en-US" altLang="ko-KR" b="1" dirty="0"/>
          </a:p>
        </p:txBody>
      </p:sp>
    </p:spTree>
    <p:extLst>
      <p:ext uri="{BB962C8B-B14F-4D97-AF65-F5344CB8AC3E}">
        <p14:creationId xmlns:p14="http://schemas.microsoft.com/office/powerpoint/2010/main" val="61455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sr-Latn-RS" altLang="ko-KR" sz="2800" dirty="0">
                <a:solidFill>
                  <a:srgbClr val="455569"/>
                </a:solidFill>
              </a:rPr>
              <a:t>Najčešća pitanja o poslovnim analitičarima</a:t>
            </a:r>
            <a:endParaRPr lang="ko-KR" altLang="en-US" sz="2800" dirty="0">
              <a:solidFill>
                <a:srgbClr val="455569"/>
              </a:solidFill>
            </a:endParaRPr>
          </a:p>
        </p:txBody>
      </p:sp>
      <p:grpSp>
        <p:nvGrpSpPr>
          <p:cNvPr id="39" name="Group 38"/>
          <p:cNvGrpSpPr/>
          <p:nvPr/>
        </p:nvGrpSpPr>
        <p:grpSpPr>
          <a:xfrm>
            <a:off x="1521361" y="1478674"/>
            <a:ext cx="2450226" cy="3348654"/>
            <a:chOff x="1685507" y="1811984"/>
            <a:chExt cx="2286080" cy="3015344"/>
          </a:xfrm>
        </p:grpSpPr>
        <p:sp>
          <p:nvSpPr>
            <p:cNvPr id="4" name="Rectangle 3"/>
            <p:cNvSpPr/>
            <p:nvPr/>
          </p:nvSpPr>
          <p:spPr>
            <a:xfrm>
              <a:off x="3863587" y="2091024"/>
              <a:ext cx="108000" cy="273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Rectangle 7"/>
            <p:cNvSpPr/>
            <p:nvPr/>
          </p:nvSpPr>
          <p:spPr>
            <a:xfrm>
              <a:off x="2351587" y="2091024"/>
              <a:ext cx="1620000" cy="10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Oval 11"/>
            <p:cNvSpPr/>
            <p:nvPr/>
          </p:nvSpPr>
          <p:spPr>
            <a:xfrm>
              <a:off x="1685507" y="1811984"/>
              <a:ext cx="666080" cy="666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2" name="Group 41"/>
          <p:cNvGrpSpPr/>
          <p:nvPr/>
        </p:nvGrpSpPr>
        <p:grpSpPr>
          <a:xfrm>
            <a:off x="5122123" y="2181736"/>
            <a:ext cx="2149413" cy="2645592"/>
            <a:chOff x="5158891" y="1811984"/>
            <a:chExt cx="2287256" cy="3015344"/>
          </a:xfrm>
        </p:grpSpPr>
        <p:sp>
          <p:nvSpPr>
            <p:cNvPr id="7" name="Rectangle 6"/>
            <p:cNvSpPr/>
            <p:nvPr/>
          </p:nvSpPr>
          <p:spPr>
            <a:xfrm>
              <a:off x="5158891" y="2091024"/>
              <a:ext cx="108000" cy="27363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ectangle 8"/>
            <p:cNvSpPr/>
            <p:nvPr/>
          </p:nvSpPr>
          <p:spPr>
            <a:xfrm>
              <a:off x="5158891" y="2091024"/>
              <a:ext cx="1620000" cy="10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val 12"/>
            <p:cNvSpPr/>
            <p:nvPr/>
          </p:nvSpPr>
          <p:spPr>
            <a:xfrm>
              <a:off x="6780067" y="1811984"/>
              <a:ext cx="666080" cy="6660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0" name="Group 39"/>
          <p:cNvGrpSpPr/>
          <p:nvPr/>
        </p:nvGrpSpPr>
        <p:grpSpPr>
          <a:xfrm>
            <a:off x="2178948" y="3244253"/>
            <a:ext cx="2128676" cy="1583074"/>
            <a:chOff x="2178948" y="3244253"/>
            <a:chExt cx="2128676" cy="1583074"/>
          </a:xfrm>
          <a:gradFill>
            <a:gsLst>
              <a:gs pos="0">
                <a:srgbClr val="85D8DE">
                  <a:lumMod val="70000"/>
                </a:srgbClr>
              </a:gs>
              <a:gs pos="100000">
                <a:srgbClr val="85D8DE">
                  <a:lumMod val="70000"/>
                </a:srgbClr>
              </a:gs>
            </a:gsLst>
            <a:lin ang="5400000" scaled="0"/>
          </a:gradFill>
        </p:grpSpPr>
        <p:sp>
          <p:nvSpPr>
            <p:cNvPr id="5" name="Rectangle 4"/>
            <p:cNvSpPr/>
            <p:nvPr/>
          </p:nvSpPr>
          <p:spPr>
            <a:xfrm>
              <a:off x="4199624" y="3505444"/>
              <a:ext cx="108000" cy="132188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2687624" y="3505445"/>
              <a:ext cx="1620000" cy="10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Oval 14"/>
            <p:cNvSpPr/>
            <p:nvPr/>
          </p:nvSpPr>
          <p:spPr>
            <a:xfrm>
              <a:off x="2178948" y="3244253"/>
              <a:ext cx="666080" cy="66608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6" name="Group 15"/>
          <p:cNvGrpSpPr/>
          <p:nvPr/>
        </p:nvGrpSpPr>
        <p:grpSpPr>
          <a:xfrm>
            <a:off x="-650961" y="2240518"/>
            <a:ext cx="4386550" cy="1070682"/>
            <a:chOff x="2118464" y="4330193"/>
            <a:chExt cx="2716089" cy="1070682"/>
          </a:xfrm>
        </p:grpSpPr>
        <p:sp>
          <p:nvSpPr>
            <p:cNvPr id="17" name="TextBox 16"/>
            <p:cNvSpPr txBox="1"/>
            <p:nvPr/>
          </p:nvSpPr>
          <p:spPr>
            <a:xfrm>
              <a:off x="2549969" y="4569878"/>
              <a:ext cx="2284584" cy="830997"/>
            </a:xfrm>
            <a:prstGeom prst="rect">
              <a:avLst/>
            </a:prstGeom>
            <a:noFill/>
          </p:spPr>
          <p:txBody>
            <a:bodyPr wrap="square" rtlCol="0" anchor="ctr">
              <a:spAutoFit/>
            </a:bodyPr>
            <a:lstStyle/>
            <a:p>
              <a:r>
                <a:rPr lang="sr-Latn-RS" altLang="ko-KR" sz="1200" dirty="0">
                  <a:solidFill>
                    <a:schemeClr val="tx1">
                      <a:lumMod val="75000"/>
                      <a:lumOff val="25000"/>
                    </a:schemeClr>
                  </a:solidFill>
                  <a:cs typeface="Arial" pitchFamily="34" charset="0"/>
                </a:rPr>
                <a:t>Većina poslovnih analitičara su osobe koje se samo motivišu. Samostalno se motivišu da otkriju najbolje moguće rešenje osnovnog rešenja problema. Često motivisani željom da se pomogne drugima</a:t>
              </a:r>
              <a:endParaRPr lang="ko-KR" altLang="en-US" sz="1200" dirty="0">
                <a:solidFill>
                  <a:schemeClr val="tx1">
                    <a:lumMod val="75000"/>
                    <a:lumOff val="25000"/>
                  </a:schemeClr>
                </a:solidFill>
                <a:cs typeface="Arial" pitchFamily="34" charset="0"/>
              </a:endParaRPr>
            </a:p>
          </p:txBody>
        </p:sp>
        <p:sp>
          <p:nvSpPr>
            <p:cNvPr id="18" name="TextBox 17"/>
            <p:cNvSpPr txBox="1"/>
            <p:nvPr/>
          </p:nvSpPr>
          <p:spPr>
            <a:xfrm>
              <a:off x="2118464" y="4330193"/>
              <a:ext cx="2152228" cy="276999"/>
            </a:xfrm>
            <a:prstGeom prst="rect">
              <a:avLst/>
            </a:prstGeom>
            <a:noFill/>
          </p:spPr>
          <p:txBody>
            <a:bodyPr wrap="square" rtlCol="0" anchor="ctr">
              <a:spAutoFit/>
            </a:bodyPr>
            <a:lstStyle/>
            <a:p>
              <a:pPr algn="r"/>
              <a:r>
                <a:rPr lang="sr-Latn-RS" altLang="ko-KR" sz="1200" b="1" dirty="0">
                  <a:solidFill>
                    <a:schemeClr val="tx1">
                      <a:lumMod val="75000"/>
                      <a:lumOff val="25000"/>
                    </a:schemeClr>
                  </a:solidFill>
                  <a:cs typeface="Arial" pitchFamily="34" charset="0"/>
                </a:rPr>
                <a:t>Šta motiviše poslovnog analitičara?</a:t>
              </a:r>
              <a:endParaRPr lang="ko-KR" altLang="en-US" sz="1200" b="1" dirty="0">
                <a:solidFill>
                  <a:schemeClr val="tx1">
                    <a:lumMod val="75000"/>
                    <a:lumOff val="25000"/>
                  </a:schemeClr>
                </a:solidFill>
                <a:cs typeface="Arial" pitchFamily="34" charset="0"/>
              </a:endParaRPr>
            </a:p>
          </p:txBody>
        </p:sp>
      </p:grpSp>
      <p:grpSp>
        <p:nvGrpSpPr>
          <p:cNvPr id="19" name="Group 18"/>
          <p:cNvGrpSpPr/>
          <p:nvPr/>
        </p:nvGrpSpPr>
        <p:grpSpPr>
          <a:xfrm>
            <a:off x="84150" y="3421242"/>
            <a:ext cx="3801773" cy="1438228"/>
            <a:chOff x="2551707" y="4151742"/>
            <a:chExt cx="2551036" cy="1128559"/>
          </a:xfrm>
        </p:grpSpPr>
        <p:sp>
          <p:nvSpPr>
            <p:cNvPr id="20" name="TextBox 19"/>
            <p:cNvSpPr txBox="1"/>
            <p:nvPr/>
          </p:nvSpPr>
          <p:spPr>
            <a:xfrm>
              <a:off x="2551707" y="4483323"/>
              <a:ext cx="2551036" cy="796978"/>
            </a:xfrm>
            <a:prstGeom prst="rect">
              <a:avLst/>
            </a:prstGeom>
            <a:noFill/>
          </p:spPr>
          <p:txBody>
            <a:bodyPr wrap="square" rtlCol="0" anchor="ctr">
              <a:spAutoFit/>
            </a:bodyPr>
            <a:lstStyle/>
            <a:p>
              <a:r>
                <a:rPr lang="sr-Latn-RS" altLang="ko-KR" sz="1200" dirty="0">
                  <a:solidFill>
                    <a:schemeClr val="tx1">
                      <a:lumMod val="75000"/>
                      <a:lumOff val="25000"/>
                    </a:schemeClr>
                  </a:solidFill>
                  <a:cs typeface="Arial" pitchFamily="34" charset="0"/>
                </a:rPr>
                <a:t>Kako poslovni analitičari konstantno objavljuju dokumentacije, vizuelne slike i interpretacije kako razvojnom timu, tako i naručiocima projekta, dobijaće shodno tome i iskrene povratne informacije o tome što rade. Na njih moraju biti spremni.</a:t>
              </a:r>
              <a:endParaRPr lang="ko-KR" altLang="en-US" sz="1200" dirty="0">
                <a:solidFill>
                  <a:schemeClr val="tx1">
                    <a:lumMod val="75000"/>
                    <a:lumOff val="25000"/>
                  </a:schemeClr>
                </a:solidFill>
                <a:cs typeface="Arial" pitchFamily="34" charset="0"/>
              </a:endParaRPr>
            </a:p>
          </p:txBody>
        </p:sp>
        <p:sp>
          <p:nvSpPr>
            <p:cNvPr id="21" name="TextBox 20"/>
            <p:cNvSpPr txBox="1"/>
            <p:nvPr/>
          </p:nvSpPr>
          <p:spPr>
            <a:xfrm>
              <a:off x="2551707" y="4151742"/>
              <a:ext cx="2317161" cy="362263"/>
            </a:xfrm>
            <a:prstGeom prst="rect">
              <a:avLst/>
            </a:prstGeom>
            <a:noFill/>
          </p:spPr>
          <p:txBody>
            <a:bodyPr wrap="square" rtlCol="0" anchor="ctr">
              <a:spAutoFit/>
            </a:bodyPr>
            <a:lstStyle/>
            <a:p>
              <a:r>
                <a:rPr lang="sr-Latn-RS" altLang="ko-KR" sz="1200" b="1" dirty="0">
                  <a:solidFill>
                    <a:schemeClr val="tx1">
                      <a:lumMod val="75000"/>
                      <a:lumOff val="25000"/>
                    </a:schemeClr>
                  </a:solidFill>
                  <a:cs typeface="Arial" pitchFamily="34" charset="0"/>
                </a:rPr>
                <a:t>Povratne informacije</a:t>
              </a:r>
            </a:p>
            <a:p>
              <a:r>
                <a:rPr lang="sr-Latn-RS" altLang="ko-KR" sz="1200" b="1" dirty="0">
                  <a:solidFill>
                    <a:schemeClr val="tx1">
                      <a:lumMod val="75000"/>
                      <a:lumOff val="25000"/>
                    </a:schemeClr>
                  </a:solidFill>
                  <a:cs typeface="Arial" pitchFamily="34" charset="0"/>
                </a:rPr>
                <a:t> o obavljenom poslu?</a:t>
              </a:r>
              <a:endParaRPr lang="ko-KR" altLang="en-US" sz="1200" b="1" dirty="0">
                <a:solidFill>
                  <a:schemeClr val="tx1">
                    <a:lumMod val="75000"/>
                    <a:lumOff val="25000"/>
                  </a:schemeClr>
                </a:solidFill>
                <a:cs typeface="Arial" pitchFamily="34" charset="0"/>
              </a:endParaRPr>
            </a:p>
          </p:txBody>
        </p:sp>
      </p:grpSp>
      <p:grpSp>
        <p:nvGrpSpPr>
          <p:cNvPr id="25" name="Group 24"/>
          <p:cNvGrpSpPr/>
          <p:nvPr/>
        </p:nvGrpSpPr>
        <p:grpSpPr>
          <a:xfrm>
            <a:off x="5727169" y="2767768"/>
            <a:ext cx="3305284" cy="1974883"/>
            <a:chOff x="2551706" y="3601093"/>
            <a:chExt cx="2156916" cy="1974883"/>
          </a:xfrm>
        </p:grpSpPr>
        <p:sp>
          <p:nvSpPr>
            <p:cNvPr id="26" name="TextBox 25"/>
            <p:cNvSpPr txBox="1"/>
            <p:nvPr/>
          </p:nvSpPr>
          <p:spPr>
            <a:xfrm>
              <a:off x="2551706" y="4006316"/>
              <a:ext cx="2152228" cy="1569660"/>
            </a:xfrm>
            <a:prstGeom prst="rect">
              <a:avLst/>
            </a:prstGeom>
            <a:noFill/>
          </p:spPr>
          <p:txBody>
            <a:bodyPr wrap="square" rtlCol="0" anchor="ctr">
              <a:spAutoFit/>
            </a:bodyPr>
            <a:lstStyle/>
            <a:p>
              <a:r>
                <a:rPr lang="sr-Latn-RS" altLang="ko-KR" sz="1200" dirty="0">
                  <a:solidFill>
                    <a:schemeClr val="tx1">
                      <a:lumMod val="75000"/>
                      <a:lumOff val="25000"/>
                    </a:schemeClr>
                  </a:solidFill>
                  <a:cs typeface="Arial" pitchFamily="34" charset="0"/>
                </a:rPr>
                <a:t>Ono čega budući poslovni analitičari moraju biti svesni jeste da moraju biti u kancelariji najmanje tri do četiri dana nedeljno. Rad od kuće iziskuje više stpljenja, jake veštine komunikacije, ali i tehnološku spretnost u pogledu pokretanja online mitinga i u pogledu potencijalnog ažuriranja dokumenata u realnom vremenu.</a:t>
              </a:r>
              <a:endParaRPr lang="ko-KR" altLang="en-US" sz="1200" dirty="0">
                <a:solidFill>
                  <a:schemeClr val="tx1">
                    <a:lumMod val="75000"/>
                    <a:lumOff val="25000"/>
                  </a:schemeClr>
                </a:solidFill>
                <a:cs typeface="Arial" pitchFamily="34" charset="0"/>
              </a:endParaRPr>
            </a:p>
          </p:txBody>
        </p:sp>
        <p:sp>
          <p:nvSpPr>
            <p:cNvPr id="27" name="TextBox 26"/>
            <p:cNvSpPr txBox="1"/>
            <p:nvPr/>
          </p:nvSpPr>
          <p:spPr>
            <a:xfrm>
              <a:off x="2556394" y="3601093"/>
              <a:ext cx="2152228" cy="461665"/>
            </a:xfrm>
            <a:prstGeom prst="rect">
              <a:avLst/>
            </a:prstGeom>
            <a:noFill/>
          </p:spPr>
          <p:txBody>
            <a:bodyPr wrap="square" rtlCol="0" anchor="ctr">
              <a:spAutoFit/>
            </a:bodyPr>
            <a:lstStyle/>
            <a:p>
              <a:r>
                <a:rPr lang="sr-Latn-RS" altLang="ko-KR" sz="1200" b="1" dirty="0">
                  <a:solidFill>
                    <a:schemeClr val="tx1">
                      <a:lumMod val="75000"/>
                      <a:lumOff val="25000"/>
                    </a:schemeClr>
                  </a:solidFill>
                  <a:cs typeface="Arial" pitchFamily="34" charset="0"/>
                </a:rPr>
                <a:t>Da li poslovni analitičar može raditi od kuće?</a:t>
              </a:r>
              <a:endParaRPr lang="ko-KR" altLang="en-US" sz="1200" b="1" dirty="0">
                <a:solidFill>
                  <a:schemeClr val="tx1">
                    <a:lumMod val="75000"/>
                    <a:lumOff val="25000"/>
                  </a:schemeClr>
                </a:solidFill>
                <a:cs typeface="Arial" pitchFamily="34" charset="0"/>
              </a:endParaRPr>
            </a:p>
          </p:txBody>
        </p:sp>
      </p:grpSp>
      <p:sp>
        <p:nvSpPr>
          <p:cNvPr id="28" name="Rectangle 27"/>
          <p:cNvSpPr/>
          <p:nvPr/>
        </p:nvSpPr>
        <p:spPr>
          <a:xfrm>
            <a:off x="0" y="4827327"/>
            <a:ext cx="9144000" cy="31617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3" name="Group 42"/>
          <p:cNvGrpSpPr/>
          <p:nvPr/>
        </p:nvGrpSpPr>
        <p:grpSpPr>
          <a:xfrm>
            <a:off x="4233357" y="1563638"/>
            <a:ext cx="748821" cy="3263689"/>
            <a:chOff x="4233358" y="1310278"/>
            <a:chExt cx="666080" cy="3517050"/>
          </a:xfrm>
          <a:gradFill>
            <a:gsLst>
              <a:gs pos="0">
                <a:srgbClr val="85D8DE">
                  <a:lumMod val="70000"/>
                </a:srgbClr>
              </a:gs>
              <a:gs pos="100000">
                <a:srgbClr val="85D8DE">
                  <a:lumMod val="70000"/>
                </a:srgbClr>
              </a:gs>
            </a:gsLst>
            <a:lin ang="5400000" scaled="0"/>
          </a:gradFill>
        </p:grpSpPr>
        <p:sp>
          <p:nvSpPr>
            <p:cNvPr id="33" name="Rectangle 32"/>
            <p:cNvSpPr/>
            <p:nvPr/>
          </p:nvSpPr>
          <p:spPr>
            <a:xfrm>
              <a:off x="4512398" y="1586968"/>
              <a:ext cx="108000" cy="32403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Oval 33"/>
            <p:cNvSpPr/>
            <p:nvPr/>
          </p:nvSpPr>
          <p:spPr>
            <a:xfrm>
              <a:off x="4233358" y="1310278"/>
              <a:ext cx="666080" cy="66608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8" name="TextBox 37"/>
          <p:cNvSpPr txBox="1"/>
          <p:nvPr/>
        </p:nvSpPr>
        <p:spPr>
          <a:xfrm>
            <a:off x="4996708" y="1345598"/>
            <a:ext cx="3564484" cy="276999"/>
          </a:xfrm>
          <a:prstGeom prst="rect">
            <a:avLst/>
          </a:prstGeom>
          <a:noFill/>
        </p:spPr>
        <p:txBody>
          <a:bodyPr wrap="square" rtlCol="0" anchor="ctr">
            <a:spAutoFit/>
          </a:bodyPr>
          <a:lstStyle/>
          <a:p>
            <a:r>
              <a:rPr lang="sr-Latn-RS" altLang="ko-KR" sz="1200" b="1" dirty="0">
                <a:solidFill>
                  <a:schemeClr val="tx1">
                    <a:lumMod val="75000"/>
                    <a:lumOff val="25000"/>
                  </a:schemeClr>
                </a:solidFill>
                <a:cs typeface="Arial" pitchFamily="34" charset="0"/>
              </a:rPr>
              <a:t>Ko nadgleda poslove poslovnog analitičara?</a:t>
            </a:r>
            <a:endParaRPr lang="ko-KR" altLang="en-US" sz="1200" b="1" dirty="0">
              <a:solidFill>
                <a:schemeClr val="tx1">
                  <a:lumMod val="75000"/>
                  <a:lumOff val="25000"/>
                </a:schemeClr>
              </a:solidFill>
              <a:cs typeface="Arial" pitchFamily="34" charset="0"/>
            </a:endParaRPr>
          </a:p>
        </p:txBody>
      </p:sp>
      <p:pic>
        <p:nvPicPr>
          <p:cNvPr id="3" name="Picture 2">
            <a:extLst>
              <a:ext uri="{FF2B5EF4-FFF2-40B4-BE49-F238E27FC236}">
                <a16:creationId xmlns:a16="http://schemas.microsoft.com/office/drawing/2014/main" id="{0AD278B9-F7E3-4B1D-9B79-E8FB6B7BFCFB}"/>
              </a:ext>
            </a:extLst>
          </p:cNvPr>
          <p:cNvPicPr>
            <a:picLocks noChangeAspect="1"/>
          </p:cNvPicPr>
          <p:nvPr/>
        </p:nvPicPr>
        <p:blipFill>
          <a:blip r:embed="rId2"/>
          <a:stretch>
            <a:fillRect/>
          </a:stretch>
        </p:blipFill>
        <p:spPr>
          <a:xfrm>
            <a:off x="4199624" y="1549145"/>
            <a:ext cx="823031" cy="749873"/>
          </a:xfrm>
          <a:prstGeom prst="rect">
            <a:avLst/>
          </a:prstGeom>
        </p:spPr>
      </p:pic>
      <p:pic>
        <p:nvPicPr>
          <p:cNvPr id="6" name="Picture 5">
            <a:extLst>
              <a:ext uri="{FF2B5EF4-FFF2-40B4-BE49-F238E27FC236}">
                <a16:creationId xmlns:a16="http://schemas.microsoft.com/office/drawing/2014/main" id="{A838971F-65AA-4378-ABE6-EAA1144B39EE}"/>
              </a:ext>
            </a:extLst>
          </p:cNvPr>
          <p:cNvPicPr>
            <a:picLocks noChangeAspect="1"/>
          </p:cNvPicPr>
          <p:nvPr/>
        </p:nvPicPr>
        <p:blipFill>
          <a:blip r:embed="rId3"/>
          <a:stretch>
            <a:fillRect/>
          </a:stretch>
        </p:blipFill>
        <p:spPr>
          <a:xfrm>
            <a:off x="1463012" y="1558745"/>
            <a:ext cx="823031" cy="646127"/>
          </a:xfrm>
          <a:prstGeom prst="rect">
            <a:avLst/>
          </a:prstGeom>
        </p:spPr>
      </p:pic>
      <p:pic>
        <p:nvPicPr>
          <p:cNvPr id="11" name="Picture 10">
            <a:extLst>
              <a:ext uri="{FF2B5EF4-FFF2-40B4-BE49-F238E27FC236}">
                <a16:creationId xmlns:a16="http://schemas.microsoft.com/office/drawing/2014/main" id="{02FBF86E-D1B4-4ED1-AE25-04D3A506439E}"/>
              </a:ext>
            </a:extLst>
          </p:cNvPr>
          <p:cNvPicPr>
            <a:picLocks noChangeAspect="1"/>
          </p:cNvPicPr>
          <p:nvPr/>
        </p:nvPicPr>
        <p:blipFill>
          <a:blip r:embed="rId4"/>
          <a:stretch>
            <a:fillRect/>
          </a:stretch>
        </p:blipFill>
        <p:spPr>
          <a:xfrm>
            <a:off x="2085041" y="3260992"/>
            <a:ext cx="823031" cy="749873"/>
          </a:xfrm>
          <a:prstGeom prst="rect">
            <a:avLst/>
          </a:prstGeom>
        </p:spPr>
      </p:pic>
      <p:sp>
        <p:nvSpPr>
          <p:cNvPr id="22" name="TextBox 21">
            <a:extLst>
              <a:ext uri="{FF2B5EF4-FFF2-40B4-BE49-F238E27FC236}">
                <a16:creationId xmlns:a16="http://schemas.microsoft.com/office/drawing/2014/main" id="{24CAAC41-0AF5-4972-B853-2F1DB536D86F}"/>
              </a:ext>
            </a:extLst>
          </p:cNvPr>
          <p:cNvSpPr txBox="1"/>
          <p:nvPr/>
        </p:nvSpPr>
        <p:spPr>
          <a:xfrm>
            <a:off x="6666897" y="2264819"/>
            <a:ext cx="604639" cy="430887"/>
          </a:xfrm>
          <a:prstGeom prst="rect">
            <a:avLst/>
          </a:prstGeom>
          <a:noFill/>
        </p:spPr>
        <p:txBody>
          <a:bodyPr wrap="square" tIns="0" bIns="0" rtlCol="0" anchor="ctr">
            <a:spAutoFit/>
          </a:bodyPr>
          <a:lstStyle/>
          <a:p>
            <a:r>
              <a:rPr lang="en-US" altLang="ko-KR" sz="2800" b="1" dirty="0">
                <a:solidFill>
                  <a:schemeClr val="bg1"/>
                </a:solidFill>
                <a:cs typeface="Arial" pitchFamily="34" charset="0"/>
              </a:rPr>
              <a:t>04</a:t>
            </a:r>
          </a:p>
        </p:txBody>
      </p:sp>
      <p:sp>
        <p:nvSpPr>
          <p:cNvPr id="35" name="TextBox 34">
            <a:extLst>
              <a:ext uri="{FF2B5EF4-FFF2-40B4-BE49-F238E27FC236}">
                <a16:creationId xmlns:a16="http://schemas.microsoft.com/office/drawing/2014/main" id="{E1B5304C-0156-4199-9909-E069805AD17A}"/>
              </a:ext>
            </a:extLst>
          </p:cNvPr>
          <p:cNvSpPr txBox="1"/>
          <p:nvPr/>
        </p:nvSpPr>
        <p:spPr>
          <a:xfrm>
            <a:off x="5015911" y="1640874"/>
            <a:ext cx="3475900" cy="276999"/>
          </a:xfrm>
          <a:prstGeom prst="rect">
            <a:avLst/>
          </a:prstGeom>
          <a:noFill/>
        </p:spPr>
        <p:txBody>
          <a:bodyPr wrap="square" rtlCol="0" anchor="ctr">
            <a:spAutoFit/>
          </a:bodyPr>
          <a:lstStyle/>
          <a:p>
            <a:r>
              <a:rPr lang="sr-Latn-RS" altLang="ko-KR" sz="1200" dirty="0">
                <a:solidFill>
                  <a:schemeClr val="tx1">
                    <a:lumMod val="75000"/>
                    <a:lumOff val="25000"/>
                  </a:schemeClr>
                </a:solidFill>
                <a:cs typeface="Arial" pitchFamily="34" charset="0"/>
              </a:rPr>
              <a:t>Menadžer projekta, funckionalni menadžer.</a:t>
            </a:r>
            <a:endParaRPr lang="ko-KR" altLang="en-US" sz="12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14501259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sr-Latn-RS" altLang="ko-KR" sz="2800" dirty="0">
                <a:solidFill>
                  <a:srgbClr val="455569"/>
                </a:solidFill>
              </a:rPr>
              <a:t>Najčešća pitanja o poslovnim analitičarima</a:t>
            </a:r>
            <a:endParaRPr lang="ko-KR" altLang="en-US" sz="2800" dirty="0">
              <a:solidFill>
                <a:srgbClr val="455569"/>
              </a:solidFill>
            </a:endParaRPr>
          </a:p>
        </p:txBody>
      </p:sp>
      <p:grpSp>
        <p:nvGrpSpPr>
          <p:cNvPr id="39" name="Group 38"/>
          <p:cNvGrpSpPr/>
          <p:nvPr/>
        </p:nvGrpSpPr>
        <p:grpSpPr>
          <a:xfrm>
            <a:off x="1521361" y="1478674"/>
            <a:ext cx="2450226" cy="3348654"/>
            <a:chOff x="1685507" y="1811984"/>
            <a:chExt cx="2286080" cy="3015344"/>
          </a:xfrm>
        </p:grpSpPr>
        <p:sp>
          <p:nvSpPr>
            <p:cNvPr id="4" name="Rectangle 3"/>
            <p:cNvSpPr/>
            <p:nvPr/>
          </p:nvSpPr>
          <p:spPr>
            <a:xfrm>
              <a:off x="3863587" y="2091024"/>
              <a:ext cx="108000" cy="27363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Rectangle 7"/>
            <p:cNvSpPr/>
            <p:nvPr/>
          </p:nvSpPr>
          <p:spPr>
            <a:xfrm>
              <a:off x="2351587" y="2091024"/>
              <a:ext cx="1620000" cy="10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Oval 11"/>
            <p:cNvSpPr/>
            <p:nvPr/>
          </p:nvSpPr>
          <p:spPr>
            <a:xfrm>
              <a:off x="1685507" y="1811984"/>
              <a:ext cx="666080" cy="6660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2" name="Group 41"/>
          <p:cNvGrpSpPr/>
          <p:nvPr/>
        </p:nvGrpSpPr>
        <p:grpSpPr>
          <a:xfrm>
            <a:off x="4802748" y="2181735"/>
            <a:ext cx="2149413" cy="2645592"/>
            <a:chOff x="5158891" y="1811984"/>
            <a:chExt cx="2287256" cy="3015344"/>
          </a:xfrm>
        </p:grpSpPr>
        <p:sp>
          <p:nvSpPr>
            <p:cNvPr id="7" name="Rectangle 6"/>
            <p:cNvSpPr/>
            <p:nvPr/>
          </p:nvSpPr>
          <p:spPr>
            <a:xfrm>
              <a:off x="5158891" y="2091024"/>
              <a:ext cx="108000" cy="273630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9" name="Rectangle 8"/>
            <p:cNvSpPr/>
            <p:nvPr/>
          </p:nvSpPr>
          <p:spPr>
            <a:xfrm>
              <a:off x="5158891" y="2091024"/>
              <a:ext cx="1620000" cy="10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Oval 12"/>
            <p:cNvSpPr/>
            <p:nvPr/>
          </p:nvSpPr>
          <p:spPr>
            <a:xfrm>
              <a:off x="6780067" y="1811984"/>
              <a:ext cx="666080" cy="6660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0" name="Group 39"/>
          <p:cNvGrpSpPr/>
          <p:nvPr/>
        </p:nvGrpSpPr>
        <p:grpSpPr>
          <a:xfrm>
            <a:off x="2178948" y="3244253"/>
            <a:ext cx="2128676" cy="1583074"/>
            <a:chOff x="2178948" y="3244253"/>
            <a:chExt cx="2128676" cy="1583074"/>
          </a:xfrm>
          <a:gradFill>
            <a:gsLst>
              <a:gs pos="0">
                <a:srgbClr val="85D8DE">
                  <a:lumMod val="70000"/>
                </a:srgbClr>
              </a:gs>
              <a:gs pos="100000">
                <a:srgbClr val="85D8DE">
                  <a:lumMod val="70000"/>
                </a:srgbClr>
              </a:gs>
            </a:gsLst>
            <a:lin ang="5400000" scaled="0"/>
          </a:gradFill>
        </p:grpSpPr>
        <p:sp>
          <p:nvSpPr>
            <p:cNvPr id="5" name="Rectangle 4"/>
            <p:cNvSpPr/>
            <p:nvPr/>
          </p:nvSpPr>
          <p:spPr>
            <a:xfrm>
              <a:off x="4199624" y="3505444"/>
              <a:ext cx="108000" cy="132188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Rectangle 9"/>
            <p:cNvSpPr/>
            <p:nvPr/>
          </p:nvSpPr>
          <p:spPr>
            <a:xfrm>
              <a:off x="2687624" y="3505445"/>
              <a:ext cx="1620000" cy="10800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Oval 14"/>
            <p:cNvSpPr/>
            <p:nvPr/>
          </p:nvSpPr>
          <p:spPr>
            <a:xfrm>
              <a:off x="2178948" y="3244253"/>
              <a:ext cx="666080" cy="66608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6" name="Group 15"/>
          <p:cNvGrpSpPr/>
          <p:nvPr/>
        </p:nvGrpSpPr>
        <p:grpSpPr>
          <a:xfrm>
            <a:off x="-98374" y="2126047"/>
            <a:ext cx="3982388" cy="1241934"/>
            <a:chOff x="2460619" y="4215722"/>
            <a:chExt cx="2465838" cy="1241934"/>
          </a:xfrm>
        </p:grpSpPr>
        <p:sp>
          <p:nvSpPr>
            <p:cNvPr id="17" name="TextBox 16"/>
            <p:cNvSpPr txBox="1"/>
            <p:nvPr/>
          </p:nvSpPr>
          <p:spPr>
            <a:xfrm>
              <a:off x="2525224" y="4441993"/>
              <a:ext cx="2401233" cy="1015663"/>
            </a:xfrm>
            <a:prstGeom prst="rect">
              <a:avLst/>
            </a:prstGeom>
            <a:noFill/>
          </p:spPr>
          <p:txBody>
            <a:bodyPr wrap="square" rtlCol="0" anchor="ctr">
              <a:spAutoFit/>
            </a:bodyPr>
            <a:lstStyle/>
            <a:p>
              <a:r>
                <a:rPr lang="sr-Latn-RS" altLang="ko-KR" sz="1200" dirty="0">
                  <a:solidFill>
                    <a:schemeClr val="tx1">
                      <a:lumMod val="75000"/>
                      <a:lumOff val="25000"/>
                    </a:schemeClr>
                  </a:solidFill>
                  <a:cs typeface="Arial" pitchFamily="34" charset="0"/>
                </a:rPr>
                <a:t>Količina vremena koju poslovni analitičar provodi radeći sa drugima u velikoj meri varira od same uloge i faze projekta, ali neka generalna aproksimacija je da poslovni analitičari provode približno 1/3 vremena u interakciji sa drugima, a 2/3 na samostalni rad. </a:t>
              </a:r>
              <a:endParaRPr lang="ko-KR" altLang="en-US" sz="1200" dirty="0">
                <a:solidFill>
                  <a:schemeClr val="tx1">
                    <a:lumMod val="75000"/>
                    <a:lumOff val="25000"/>
                  </a:schemeClr>
                </a:solidFill>
                <a:cs typeface="Arial" pitchFamily="34" charset="0"/>
              </a:endParaRPr>
            </a:p>
          </p:txBody>
        </p:sp>
        <p:sp>
          <p:nvSpPr>
            <p:cNvPr id="18" name="TextBox 17"/>
            <p:cNvSpPr txBox="1"/>
            <p:nvPr/>
          </p:nvSpPr>
          <p:spPr>
            <a:xfrm>
              <a:off x="2460619" y="4215722"/>
              <a:ext cx="2284584" cy="276999"/>
            </a:xfrm>
            <a:prstGeom prst="rect">
              <a:avLst/>
            </a:prstGeom>
            <a:noFill/>
          </p:spPr>
          <p:txBody>
            <a:bodyPr wrap="square" rtlCol="0" anchor="ctr">
              <a:spAutoFit/>
            </a:bodyPr>
            <a:lstStyle/>
            <a:p>
              <a:pPr algn="r"/>
              <a:r>
                <a:rPr lang="sr-Latn-RS" altLang="ko-KR" sz="1200" b="1" dirty="0">
                  <a:solidFill>
                    <a:schemeClr val="tx1">
                      <a:lumMod val="75000"/>
                      <a:lumOff val="25000"/>
                    </a:schemeClr>
                  </a:solidFill>
                  <a:cs typeface="Arial" pitchFamily="34" charset="0"/>
                </a:rPr>
                <a:t>Koliko se vremena provodi u radu sa drugima?</a:t>
              </a:r>
              <a:endParaRPr lang="ko-KR" altLang="en-US" sz="1200" b="1" dirty="0">
                <a:solidFill>
                  <a:schemeClr val="tx1">
                    <a:lumMod val="75000"/>
                    <a:lumOff val="25000"/>
                  </a:schemeClr>
                </a:solidFill>
                <a:cs typeface="Arial" pitchFamily="34" charset="0"/>
              </a:endParaRPr>
            </a:p>
          </p:txBody>
        </p:sp>
      </p:grpSp>
      <p:grpSp>
        <p:nvGrpSpPr>
          <p:cNvPr id="19" name="Group 18"/>
          <p:cNvGrpSpPr/>
          <p:nvPr/>
        </p:nvGrpSpPr>
        <p:grpSpPr>
          <a:xfrm>
            <a:off x="84150" y="3421243"/>
            <a:ext cx="3801773" cy="1438227"/>
            <a:chOff x="2551707" y="4151742"/>
            <a:chExt cx="2551036" cy="1128558"/>
          </a:xfrm>
        </p:grpSpPr>
        <p:sp>
          <p:nvSpPr>
            <p:cNvPr id="20" name="TextBox 19"/>
            <p:cNvSpPr txBox="1"/>
            <p:nvPr/>
          </p:nvSpPr>
          <p:spPr>
            <a:xfrm>
              <a:off x="2551707" y="4483323"/>
              <a:ext cx="2551036" cy="796977"/>
            </a:xfrm>
            <a:prstGeom prst="rect">
              <a:avLst/>
            </a:prstGeom>
            <a:noFill/>
          </p:spPr>
          <p:txBody>
            <a:bodyPr wrap="square" rtlCol="0" anchor="ctr">
              <a:spAutoFit/>
            </a:bodyPr>
            <a:lstStyle/>
            <a:p>
              <a:r>
                <a:rPr lang="sr-Latn-RS" altLang="ko-KR" sz="1200" dirty="0">
                  <a:solidFill>
                    <a:schemeClr val="tx1">
                      <a:lumMod val="75000"/>
                      <a:lumOff val="25000"/>
                    </a:schemeClr>
                  </a:solidFill>
                  <a:cs typeface="Arial" pitchFamily="34" charset="0"/>
                </a:rPr>
                <a:t>Poslovni analitičari generalno nemaju direktno autoritet  nad drugima i ne donose sami velike odluke na svoju ruku. Poslovni analitičari olakšavaju kolaboraciju, istraživanje i pokreću proces donošenja odluka češće nego li što donose sami velike odluke.</a:t>
              </a:r>
            </a:p>
          </p:txBody>
        </p:sp>
        <p:sp>
          <p:nvSpPr>
            <p:cNvPr id="21" name="TextBox 20"/>
            <p:cNvSpPr txBox="1"/>
            <p:nvPr/>
          </p:nvSpPr>
          <p:spPr>
            <a:xfrm>
              <a:off x="2551707" y="4151742"/>
              <a:ext cx="2317161" cy="362263"/>
            </a:xfrm>
            <a:prstGeom prst="rect">
              <a:avLst/>
            </a:prstGeom>
            <a:noFill/>
          </p:spPr>
          <p:txBody>
            <a:bodyPr wrap="square" rtlCol="0" anchor="ctr">
              <a:spAutoFit/>
            </a:bodyPr>
            <a:lstStyle/>
            <a:p>
              <a:r>
                <a:rPr lang="sr-Latn-RS" altLang="ko-KR" sz="1200" b="1" dirty="0">
                  <a:solidFill>
                    <a:schemeClr val="tx1">
                      <a:lumMod val="75000"/>
                      <a:lumOff val="25000"/>
                    </a:schemeClr>
                  </a:solidFill>
                  <a:cs typeface="Arial" pitchFamily="34" charset="0"/>
                </a:rPr>
                <a:t>Da li poslovni analitičari</a:t>
              </a:r>
            </a:p>
            <a:p>
              <a:r>
                <a:rPr lang="sr-Latn-RS" altLang="ko-KR" sz="1200" b="1" dirty="0">
                  <a:solidFill>
                    <a:schemeClr val="tx1">
                      <a:lumMod val="75000"/>
                      <a:lumOff val="25000"/>
                    </a:schemeClr>
                  </a:solidFill>
                  <a:cs typeface="Arial" pitchFamily="34" charset="0"/>
                </a:rPr>
                <a:t>donose odluke?</a:t>
              </a:r>
              <a:endParaRPr lang="ko-KR" altLang="en-US" sz="1200" b="1" dirty="0">
                <a:solidFill>
                  <a:schemeClr val="tx1">
                    <a:lumMod val="75000"/>
                    <a:lumOff val="25000"/>
                  </a:schemeClr>
                </a:solidFill>
                <a:cs typeface="Arial" pitchFamily="34" charset="0"/>
              </a:endParaRPr>
            </a:p>
          </p:txBody>
        </p:sp>
      </p:grpSp>
      <p:grpSp>
        <p:nvGrpSpPr>
          <p:cNvPr id="25" name="Group 24"/>
          <p:cNvGrpSpPr/>
          <p:nvPr/>
        </p:nvGrpSpPr>
        <p:grpSpPr>
          <a:xfrm>
            <a:off x="4919347" y="2698127"/>
            <a:ext cx="4308802" cy="2172596"/>
            <a:chOff x="2547018" y="3576105"/>
            <a:chExt cx="2204217" cy="2172596"/>
          </a:xfrm>
        </p:grpSpPr>
        <p:sp>
          <p:nvSpPr>
            <p:cNvPr id="26" name="TextBox 25"/>
            <p:cNvSpPr txBox="1"/>
            <p:nvPr/>
          </p:nvSpPr>
          <p:spPr>
            <a:xfrm>
              <a:off x="2551705" y="3809709"/>
              <a:ext cx="2199530" cy="1938992"/>
            </a:xfrm>
            <a:prstGeom prst="rect">
              <a:avLst/>
            </a:prstGeom>
            <a:noFill/>
          </p:spPr>
          <p:txBody>
            <a:bodyPr wrap="square" rtlCol="0" anchor="ctr">
              <a:spAutoFit/>
            </a:bodyPr>
            <a:lstStyle/>
            <a:p>
              <a:r>
                <a:rPr lang="sr-Latn-RS" altLang="ko-KR" sz="1200" dirty="0">
                  <a:solidFill>
                    <a:schemeClr val="tx1">
                      <a:lumMod val="75000"/>
                      <a:lumOff val="25000"/>
                    </a:schemeClr>
                  </a:solidFill>
                  <a:cs typeface="Arial" pitchFamily="34" charset="0"/>
                </a:rPr>
                <a:t>Poslovni analitičari uvek treba da budu u toku sa tehnološkim trendovima i da eksperimentišu nove alate i nove tehnike.</a:t>
              </a:r>
            </a:p>
            <a:p>
              <a:r>
                <a:rPr lang="sr-Latn-RS" altLang="ko-KR" sz="1200" dirty="0">
                  <a:solidFill>
                    <a:schemeClr val="tx1">
                      <a:lumMod val="75000"/>
                      <a:lumOff val="25000"/>
                    </a:schemeClr>
                  </a:solidFill>
                  <a:cs typeface="Arial" pitchFamily="34" charset="0"/>
                </a:rPr>
                <a:t>Kako su mogućnosti rešavanja kompleksnih poslovnih problema uvek u ekspanziji, samo istraživanje mogućih primena novih tehnoloških rešenja postaje sve značajnije za poslovne analitičare. Ono što se neće toliko promeniti su temelji poslovne analize. Ako se poslovni analitičari usredsrede na učenje osnova i „prođu“ kroz nekoliko projekata, sigurno se dostiže tačka u kojoj su savladane osnovne tehnike, ali usavršavanju istih nikad neće biti kraja. </a:t>
              </a:r>
              <a:endParaRPr lang="ko-KR" altLang="en-US" sz="1200" dirty="0">
                <a:solidFill>
                  <a:schemeClr val="tx1">
                    <a:lumMod val="75000"/>
                    <a:lumOff val="25000"/>
                  </a:schemeClr>
                </a:solidFill>
                <a:cs typeface="Arial" pitchFamily="34" charset="0"/>
              </a:endParaRPr>
            </a:p>
          </p:txBody>
        </p:sp>
        <p:sp>
          <p:nvSpPr>
            <p:cNvPr id="27" name="TextBox 26"/>
            <p:cNvSpPr txBox="1"/>
            <p:nvPr/>
          </p:nvSpPr>
          <p:spPr>
            <a:xfrm>
              <a:off x="2547018" y="3576105"/>
              <a:ext cx="2152228" cy="276999"/>
            </a:xfrm>
            <a:prstGeom prst="rect">
              <a:avLst/>
            </a:prstGeom>
            <a:noFill/>
          </p:spPr>
          <p:txBody>
            <a:bodyPr wrap="square" rtlCol="0" anchor="ctr">
              <a:spAutoFit/>
            </a:bodyPr>
            <a:lstStyle/>
            <a:p>
              <a:r>
                <a:rPr lang="sr-Latn-RS" altLang="ko-KR" sz="1200" b="1" dirty="0">
                  <a:solidFill>
                    <a:schemeClr val="tx1">
                      <a:lumMod val="75000"/>
                      <a:lumOff val="25000"/>
                    </a:schemeClr>
                  </a:solidFill>
                  <a:cs typeface="Arial" pitchFamily="34" charset="0"/>
                </a:rPr>
                <a:t>Da li postoje novi izazovi, nakon savladanih osnova?</a:t>
              </a:r>
              <a:endParaRPr lang="ko-KR" altLang="en-US" sz="1200" b="1" dirty="0">
                <a:solidFill>
                  <a:schemeClr val="tx1">
                    <a:lumMod val="75000"/>
                    <a:lumOff val="25000"/>
                  </a:schemeClr>
                </a:solidFill>
                <a:cs typeface="Arial" pitchFamily="34" charset="0"/>
              </a:endParaRPr>
            </a:p>
          </p:txBody>
        </p:sp>
      </p:grpSp>
      <p:sp>
        <p:nvSpPr>
          <p:cNvPr id="28" name="Rectangle 27"/>
          <p:cNvSpPr/>
          <p:nvPr/>
        </p:nvSpPr>
        <p:spPr>
          <a:xfrm>
            <a:off x="0" y="4827327"/>
            <a:ext cx="9144000" cy="316173"/>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3" name="Group 42"/>
          <p:cNvGrpSpPr/>
          <p:nvPr/>
        </p:nvGrpSpPr>
        <p:grpSpPr>
          <a:xfrm>
            <a:off x="4233357" y="1563638"/>
            <a:ext cx="748821" cy="3263689"/>
            <a:chOff x="4233358" y="1310278"/>
            <a:chExt cx="666080" cy="3517050"/>
          </a:xfrm>
          <a:gradFill>
            <a:gsLst>
              <a:gs pos="0">
                <a:srgbClr val="85D8DE">
                  <a:lumMod val="70000"/>
                </a:srgbClr>
              </a:gs>
              <a:gs pos="100000">
                <a:srgbClr val="85D8DE">
                  <a:lumMod val="70000"/>
                </a:srgbClr>
              </a:gs>
            </a:gsLst>
            <a:lin ang="5400000" scaled="0"/>
          </a:gradFill>
        </p:grpSpPr>
        <p:sp>
          <p:nvSpPr>
            <p:cNvPr id="33" name="Rectangle 32"/>
            <p:cNvSpPr/>
            <p:nvPr/>
          </p:nvSpPr>
          <p:spPr>
            <a:xfrm>
              <a:off x="4512398" y="1586968"/>
              <a:ext cx="108000" cy="324036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Oval 33"/>
            <p:cNvSpPr/>
            <p:nvPr/>
          </p:nvSpPr>
          <p:spPr>
            <a:xfrm>
              <a:off x="4233358" y="1310278"/>
              <a:ext cx="666080" cy="66608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8" name="TextBox 37"/>
          <p:cNvSpPr txBox="1"/>
          <p:nvPr/>
        </p:nvSpPr>
        <p:spPr>
          <a:xfrm>
            <a:off x="5001679" y="1062743"/>
            <a:ext cx="3564484" cy="276999"/>
          </a:xfrm>
          <a:prstGeom prst="rect">
            <a:avLst/>
          </a:prstGeom>
          <a:noFill/>
        </p:spPr>
        <p:txBody>
          <a:bodyPr wrap="square" rtlCol="0" anchor="ctr">
            <a:spAutoFit/>
          </a:bodyPr>
          <a:lstStyle/>
          <a:p>
            <a:r>
              <a:rPr lang="sr-Latn-RS" altLang="ko-KR" sz="1200" b="1" dirty="0">
                <a:solidFill>
                  <a:schemeClr val="tx1">
                    <a:lumMod val="75000"/>
                    <a:lumOff val="25000"/>
                  </a:schemeClr>
                </a:solidFill>
                <a:cs typeface="Arial" pitchFamily="34" charset="0"/>
              </a:rPr>
              <a:t>Da li poslovni analitičari putuju?</a:t>
            </a:r>
            <a:endParaRPr lang="ko-KR" altLang="en-US" sz="1200" b="1" dirty="0">
              <a:solidFill>
                <a:schemeClr val="tx1">
                  <a:lumMod val="75000"/>
                  <a:lumOff val="25000"/>
                </a:schemeClr>
              </a:solidFill>
              <a:cs typeface="Arial" pitchFamily="34" charset="0"/>
            </a:endParaRPr>
          </a:p>
        </p:txBody>
      </p:sp>
      <p:sp>
        <p:nvSpPr>
          <p:cNvPr id="35" name="TextBox 34">
            <a:extLst>
              <a:ext uri="{FF2B5EF4-FFF2-40B4-BE49-F238E27FC236}">
                <a16:creationId xmlns:a16="http://schemas.microsoft.com/office/drawing/2014/main" id="{E1B5304C-0156-4199-9909-E069805AD17A}"/>
              </a:ext>
            </a:extLst>
          </p:cNvPr>
          <p:cNvSpPr txBox="1"/>
          <p:nvPr/>
        </p:nvSpPr>
        <p:spPr>
          <a:xfrm>
            <a:off x="5015911" y="1269883"/>
            <a:ext cx="4128089" cy="1015663"/>
          </a:xfrm>
          <a:prstGeom prst="rect">
            <a:avLst/>
          </a:prstGeom>
          <a:noFill/>
        </p:spPr>
        <p:txBody>
          <a:bodyPr wrap="square" rtlCol="0" anchor="ctr">
            <a:spAutoFit/>
          </a:bodyPr>
          <a:lstStyle/>
          <a:p>
            <a:r>
              <a:rPr lang="sr-Latn-RS" altLang="ko-KR" sz="1200" dirty="0">
                <a:solidFill>
                  <a:schemeClr val="tx1">
                    <a:lumMod val="75000"/>
                    <a:lumOff val="25000"/>
                  </a:schemeClr>
                </a:solidFill>
                <a:cs typeface="Arial" pitchFamily="34" charset="0"/>
              </a:rPr>
              <a:t>Vreme koje poslovni analitičari provode na poslovna putovanja varira i zavisi od konkretne pozicije. Ukoliko se radi o poziciji poslovnog analitičara u nekoj konsultantskoj kompaniji, onda poslovni analitičar može putovati svake nedelje do različitih klijenata. </a:t>
            </a:r>
            <a:endParaRPr lang="ko-KR" altLang="en-US" sz="1200" dirty="0">
              <a:solidFill>
                <a:schemeClr val="tx1">
                  <a:lumMod val="75000"/>
                  <a:lumOff val="25000"/>
                </a:schemeClr>
              </a:solidFill>
              <a:cs typeface="Arial" pitchFamily="34" charset="0"/>
            </a:endParaRPr>
          </a:p>
        </p:txBody>
      </p:sp>
      <p:sp>
        <p:nvSpPr>
          <p:cNvPr id="36" name="Text Placeholder 2">
            <a:extLst>
              <a:ext uri="{FF2B5EF4-FFF2-40B4-BE49-F238E27FC236}">
                <a16:creationId xmlns:a16="http://schemas.microsoft.com/office/drawing/2014/main" id="{E408C5AE-5CF5-4E71-9BEB-E4E6C7D46B31}"/>
              </a:ext>
            </a:extLst>
          </p:cNvPr>
          <p:cNvSpPr>
            <a:spLocks noGrp="1"/>
          </p:cNvSpPr>
          <p:nvPr>
            <p:ph type="body" sz="quarter" idx="11"/>
          </p:nvPr>
        </p:nvSpPr>
        <p:spPr>
          <a:xfrm>
            <a:off x="4262111" y="1560495"/>
            <a:ext cx="670912" cy="576064"/>
          </a:xfrm>
        </p:spPr>
        <p:txBody>
          <a:bodyPr/>
          <a:lstStyle/>
          <a:p>
            <a:pPr lvl="0"/>
            <a:r>
              <a:rPr lang="sr-Latn-RS" altLang="ko-KR" sz="2400" b="1" dirty="0">
                <a:solidFill>
                  <a:schemeClr val="bg1"/>
                </a:solidFill>
              </a:rPr>
              <a:t>05</a:t>
            </a:r>
            <a:endParaRPr lang="en-US" altLang="ko-KR" b="1" dirty="0">
              <a:solidFill>
                <a:schemeClr val="bg1"/>
              </a:solidFill>
            </a:endParaRPr>
          </a:p>
        </p:txBody>
      </p:sp>
      <p:sp>
        <p:nvSpPr>
          <p:cNvPr id="41" name="Text Placeholder 2">
            <a:extLst>
              <a:ext uri="{FF2B5EF4-FFF2-40B4-BE49-F238E27FC236}">
                <a16:creationId xmlns:a16="http://schemas.microsoft.com/office/drawing/2014/main" id="{F1D6D5A4-A89E-4F29-A5E1-E0863E754955}"/>
              </a:ext>
            </a:extLst>
          </p:cNvPr>
          <p:cNvSpPr txBox="1">
            <a:spLocks/>
          </p:cNvSpPr>
          <p:nvPr/>
        </p:nvSpPr>
        <p:spPr>
          <a:xfrm>
            <a:off x="1527173" y="1537659"/>
            <a:ext cx="670912" cy="576064"/>
          </a:xfrm>
          <a:prstGeom prst="rect">
            <a:avLst/>
          </a:prstGeom>
        </p:spPr>
        <p:txBody>
          <a:bodyPr anchor="ctr"/>
          <a:lstStyle>
            <a:lvl1pPr marL="0" indent="0" algn="ctr" defTabSz="914400" rtl="0" eaLnBrk="1" latinLnBrk="1" hangingPunct="1">
              <a:spcBef>
                <a:spcPct val="20000"/>
              </a:spcBef>
              <a:buFont typeface="Arial" pitchFamily="34" charset="0"/>
              <a:buNone/>
              <a:defRPr sz="1400" b="0" kern="1200" baseline="0">
                <a:solidFill>
                  <a:schemeClr val="tx1">
                    <a:lumMod val="75000"/>
                    <a:lumOff val="25000"/>
                  </a:schemeClr>
                </a:solidFill>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sr-Latn-RS" altLang="ko-KR" sz="2400" b="1" dirty="0">
                <a:solidFill>
                  <a:schemeClr val="bg1"/>
                </a:solidFill>
              </a:rPr>
              <a:t>06</a:t>
            </a:r>
            <a:endParaRPr lang="en-US" altLang="ko-KR" b="1" dirty="0">
              <a:solidFill>
                <a:schemeClr val="bg1"/>
              </a:solidFill>
            </a:endParaRPr>
          </a:p>
        </p:txBody>
      </p:sp>
      <p:sp>
        <p:nvSpPr>
          <p:cNvPr id="44" name="Text Placeholder 2">
            <a:extLst>
              <a:ext uri="{FF2B5EF4-FFF2-40B4-BE49-F238E27FC236}">
                <a16:creationId xmlns:a16="http://schemas.microsoft.com/office/drawing/2014/main" id="{697693D4-EB90-42DC-9B5A-021EA9558C58}"/>
              </a:ext>
            </a:extLst>
          </p:cNvPr>
          <p:cNvSpPr txBox="1">
            <a:spLocks/>
          </p:cNvSpPr>
          <p:nvPr/>
        </p:nvSpPr>
        <p:spPr>
          <a:xfrm>
            <a:off x="2178948" y="3271222"/>
            <a:ext cx="670912" cy="576064"/>
          </a:xfrm>
          <a:prstGeom prst="rect">
            <a:avLst/>
          </a:prstGeom>
        </p:spPr>
        <p:txBody>
          <a:bodyPr anchor="ctr"/>
          <a:lstStyle>
            <a:lvl1pPr marL="0" indent="0" algn="ctr" defTabSz="914400" rtl="0" eaLnBrk="1" latinLnBrk="1" hangingPunct="1">
              <a:spcBef>
                <a:spcPct val="20000"/>
              </a:spcBef>
              <a:buFont typeface="Arial" pitchFamily="34" charset="0"/>
              <a:buNone/>
              <a:defRPr sz="1400" b="0" kern="1200" baseline="0">
                <a:solidFill>
                  <a:schemeClr val="tx1">
                    <a:lumMod val="75000"/>
                    <a:lumOff val="25000"/>
                  </a:schemeClr>
                </a:solidFill>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sr-Latn-RS" altLang="ko-KR" sz="2400" b="1" dirty="0">
                <a:solidFill>
                  <a:schemeClr val="bg1"/>
                </a:solidFill>
              </a:rPr>
              <a:t>07</a:t>
            </a:r>
            <a:endParaRPr lang="en-US" altLang="ko-KR" b="1" dirty="0">
              <a:solidFill>
                <a:schemeClr val="bg1"/>
              </a:solidFill>
            </a:endParaRPr>
          </a:p>
        </p:txBody>
      </p:sp>
      <p:sp>
        <p:nvSpPr>
          <p:cNvPr id="45" name="Text Placeholder 2">
            <a:extLst>
              <a:ext uri="{FF2B5EF4-FFF2-40B4-BE49-F238E27FC236}">
                <a16:creationId xmlns:a16="http://schemas.microsoft.com/office/drawing/2014/main" id="{C5B87646-6F55-44FB-9A46-032A1AD58128}"/>
              </a:ext>
            </a:extLst>
          </p:cNvPr>
          <p:cNvSpPr txBox="1">
            <a:spLocks/>
          </p:cNvSpPr>
          <p:nvPr/>
        </p:nvSpPr>
        <p:spPr>
          <a:xfrm>
            <a:off x="6309356" y="2157341"/>
            <a:ext cx="670912" cy="576064"/>
          </a:xfrm>
          <a:prstGeom prst="rect">
            <a:avLst/>
          </a:prstGeom>
        </p:spPr>
        <p:txBody>
          <a:bodyPr anchor="ctr"/>
          <a:lstStyle>
            <a:lvl1pPr marL="0" indent="0" algn="ctr" defTabSz="914400" rtl="0" eaLnBrk="1" latinLnBrk="1" hangingPunct="1">
              <a:spcBef>
                <a:spcPct val="20000"/>
              </a:spcBef>
              <a:buFont typeface="Arial" pitchFamily="34" charset="0"/>
              <a:buNone/>
              <a:defRPr sz="1400" b="0" kern="1200" baseline="0">
                <a:solidFill>
                  <a:schemeClr val="tx1">
                    <a:lumMod val="75000"/>
                    <a:lumOff val="25000"/>
                  </a:schemeClr>
                </a:solidFill>
                <a:latin typeface="+mn-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sr-Latn-RS" altLang="ko-KR" sz="2400" b="1" dirty="0">
                <a:solidFill>
                  <a:schemeClr val="bg1"/>
                </a:solidFill>
              </a:rPr>
              <a:t>08</a:t>
            </a:r>
            <a:endParaRPr lang="en-US" altLang="ko-KR" b="1" dirty="0">
              <a:solidFill>
                <a:schemeClr val="bg1"/>
              </a:solidFill>
            </a:endParaRPr>
          </a:p>
        </p:txBody>
      </p:sp>
    </p:spTree>
    <p:extLst>
      <p:ext uri="{BB962C8B-B14F-4D97-AF65-F5344CB8AC3E}">
        <p14:creationId xmlns:p14="http://schemas.microsoft.com/office/powerpoint/2010/main" val="2025446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sr-Latn-RS" altLang="ko-KR" dirty="0">
                <a:solidFill>
                  <a:schemeClr val="tx2">
                    <a:lumMod val="75000"/>
                  </a:schemeClr>
                </a:solidFill>
              </a:rPr>
              <a:t>Dobre i loše strane u poslu</a:t>
            </a:r>
            <a:endParaRPr lang="ko-KR" altLang="en-US" dirty="0">
              <a:solidFill>
                <a:schemeClr val="tx2">
                  <a:lumMod val="75000"/>
                </a:schemeClr>
              </a:solidFill>
            </a:endParaRPr>
          </a:p>
        </p:txBody>
      </p:sp>
      <p:grpSp>
        <p:nvGrpSpPr>
          <p:cNvPr id="4" name="Group 3"/>
          <p:cNvGrpSpPr/>
          <p:nvPr/>
        </p:nvGrpSpPr>
        <p:grpSpPr>
          <a:xfrm>
            <a:off x="3768701" y="1347614"/>
            <a:ext cx="1580694" cy="3168352"/>
            <a:chOff x="3347864" y="1043588"/>
            <a:chExt cx="2127894" cy="3464768"/>
          </a:xfrm>
        </p:grpSpPr>
        <p:grpSp>
          <p:nvGrpSpPr>
            <p:cNvPr id="5" name="Group 4"/>
            <p:cNvGrpSpPr/>
            <p:nvPr/>
          </p:nvGrpSpPr>
          <p:grpSpPr>
            <a:xfrm>
              <a:off x="3347864" y="1043588"/>
              <a:ext cx="1807516" cy="1944216"/>
              <a:chOff x="3347864" y="1043588"/>
              <a:chExt cx="1807516" cy="1944216"/>
            </a:xfrm>
          </p:grpSpPr>
          <p:sp>
            <p:nvSpPr>
              <p:cNvPr id="9" name="Up Arrow 8"/>
              <p:cNvSpPr/>
              <p:nvPr/>
            </p:nvSpPr>
            <p:spPr>
              <a:xfrm>
                <a:off x="3347864" y="1043588"/>
                <a:ext cx="864096" cy="1152128"/>
              </a:xfrm>
              <a:prstGeom prst="upArrow">
                <a:avLst>
                  <a:gd name="adj1" fmla="val 50000"/>
                  <a:gd name="adj2" fmla="val 6862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Block Arc 9"/>
              <p:cNvSpPr/>
              <p:nvPr/>
            </p:nvSpPr>
            <p:spPr>
              <a:xfrm rot="10800000">
                <a:off x="3571204" y="1403628"/>
                <a:ext cx="1584176" cy="1584176"/>
              </a:xfrm>
              <a:prstGeom prst="blockArc">
                <a:avLst>
                  <a:gd name="adj1" fmla="val 16074307"/>
                  <a:gd name="adj2" fmla="val 209627"/>
                  <a:gd name="adj3" fmla="val 2726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6" name="Group 5"/>
            <p:cNvGrpSpPr/>
            <p:nvPr/>
          </p:nvGrpSpPr>
          <p:grpSpPr>
            <a:xfrm rot="10800000">
              <a:off x="3668242" y="2564140"/>
              <a:ext cx="1807516" cy="1944216"/>
              <a:chOff x="3347864" y="1043588"/>
              <a:chExt cx="1807516" cy="1944216"/>
            </a:xfrm>
          </p:grpSpPr>
          <p:sp>
            <p:nvSpPr>
              <p:cNvPr id="7" name="Up Arrow 6"/>
              <p:cNvSpPr/>
              <p:nvPr/>
            </p:nvSpPr>
            <p:spPr>
              <a:xfrm>
                <a:off x="3347864" y="1043588"/>
                <a:ext cx="864096" cy="1152128"/>
              </a:xfrm>
              <a:prstGeom prst="upArrow">
                <a:avLst>
                  <a:gd name="adj1" fmla="val 50000"/>
                  <a:gd name="adj2" fmla="val 6862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Block Arc 7"/>
              <p:cNvSpPr/>
              <p:nvPr/>
            </p:nvSpPr>
            <p:spPr>
              <a:xfrm rot="10800000">
                <a:off x="3571204" y="1403628"/>
                <a:ext cx="1584176" cy="1584176"/>
              </a:xfrm>
              <a:prstGeom prst="blockArc">
                <a:avLst>
                  <a:gd name="adj1" fmla="val 16074307"/>
                  <a:gd name="adj2" fmla="val 209627"/>
                  <a:gd name="adj3" fmla="val 27266"/>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sp>
        <p:nvSpPr>
          <p:cNvPr id="21" name="Rounded Rectangle 27"/>
          <p:cNvSpPr/>
          <p:nvPr/>
        </p:nvSpPr>
        <p:spPr>
          <a:xfrm>
            <a:off x="6186818" y="2642344"/>
            <a:ext cx="226748" cy="174173"/>
          </a:xfrm>
          <a:custGeom>
            <a:avLst/>
            <a:gdLst/>
            <a:ahLst/>
            <a:cxnLst/>
            <a:rect l="l" t="t" r="r" b="b"/>
            <a:pathLst>
              <a:path w="3186824" h="2447912">
                <a:moveTo>
                  <a:pt x="1917737" y="1021643"/>
                </a:moveTo>
                <a:cubicBezTo>
                  <a:pt x="2188548" y="1021643"/>
                  <a:pt x="2408083" y="1241178"/>
                  <a:pt x="2408083" y="1511989"/>
                </a:cubicBezTo>
                <a:cubicBezTo>
                  <a:pt x="2408083" y="1782800"/>
                  <a:pt x="2188548" y="2002335"/>
                  <a:pt x="1917737" y="2002335"/>
                </a:cubicBezTo>
                <a:cubicBezTo>
                  <a:pt x="1646926" y="2002335"/>
                  <a:pt x="1427391" y="1782800"/>
                  <a:pt x="1427391" y="1511989"/>
                </a:cubicBezTo>
                <a:cubicBezTo>
                  <a:pt x="1427391" y="1241178"/>
                  <a:pt x="1646926" y="1021643"/>
                  <a:pt x="1917737" y="1021643"/>
                </a:cubicBezTo>
                <a:close/>
                <a:moveTo>
                  <a:pt x="1917737" y="827913"/>
                </a:moveTo>
                <a:cubicBezTo>
                  <a:pt x="1539932" y="827913"/>
                  <a:pt x="1233661" y="1134184"/>
                  <a:pt x="1233661" y="1511989"/>
                </a:cubicBezTo>
                <a:cubicBezTo>
                  <a:pt x="1233661" y="1889794"/>
                  <a:pt x="1539932" y="2196065"/>
                  <a:pt x="1917737" y="2196065"/>
                </a:cubicBezTo>
                <a:cubicBezTo>
                  <a:pt x="2295542" y="2196065"/>
                  <a:pt x="2601813" y="1889794"/>
                  <a:pt x="2601813" y="1511989"/>
                </a:cubicBezTo>
                <a:cubicBezTo>
                  <a:pt x="2601813" y="1134184"/>
                  <a:pt x="2295542" y="827913"/>
                  <a:pt x="1917737" y="827913"/>
                </a:cubicBezTo>
                <a:close/>
                <a:moveTo>
                  <a:pt x="1112286" y="675885"/>
                </a:moveTo>
                <a:lnTo>
                  <a:pt x="1112286" y="830188"/>
                </a:lnTo>
                <a:lnTo>
                  <a:pt x="1328310" y="830188"/>
                </a:lnTo>
                <a:lnTo>
                  <a:pt x="1328310" y="675885"/>
                </a:lnTo>
                <a:close/>
                <a:moveTo>
                  <a:pt x="2586084" y="626422"/>
                </a:moveTo>
                <a:lnTo>
                  <a:pt x="2586084" y="830188"/>
                </a:lnTo>
                <a:lnTo>
                  <a:pt x="3001340" y="830188"/>
                </a:lnTo>
                <a:lnTo>
                  <a:pt x="3001340" y="626422"/>
                </a:lnTo>
                <a:close/>
                <a:moveTo>
                  <a:pt x="1593701" y="108218"/>
                </a:moveTo>
                <a:lnTo>
                  <a:pt x="1593701" y="432905"/>
                </a:lnTo>
                <a:lnTo>
                  <a:pt x="2241773" y="432905"/>
                </a:lnTo>
                <a:lnTo>
                  <a:pt x="2241773" y="108218"/>
                </a:lnTo>
                <a:close/>
                <a:moveTo>
                  <a:pt x="1452512" y="0"/>
                </a:moveTo>
                <a:lnTo>
                  <a:pt x="2382963" y="0"/>
                </a:lnTo>
                <a:cubicBezTo>
                  <a:pt x="2433311" y="0"/>
                  <a:pt x="2474127" y="40816"/>
                  <a:pt x="2474127" y="91164"/>
                </a:cubicBezTo>
                <a:lnTo>
                  <a:pt x="2474127" y="432905"/>
                </a:lnTo>
                <a:lnTo>
                  <a:pt x="2933014" y="432905"/>
                </a:lnTo>
                <a:cubicBezTo>
                  <a:pt x="3073189" y="432905"/>
                  <a:pt x="3186824" y="546540"/>
                  <a:pt x="3186824" y="686715"/>
                </a:cubicBezTo>
                <a:lnTo>
                  <a:pt x="3186824" y="2194102"/>
                </a:lnTo>
                <a:cubicBezTo>
                  <a:pt x="3186824" y="2334277"/>
                  <a:pt x="3073189" y="2447912"/>
                  <a:pt x="2933014" y="2447912"/>
                </a:cubicBezTo>
                <a:lnTo>
                  <a:pt x="253810" y="2447912"/>
                </a:lnTo>
                <a:cubicBezTo>
                  <a:pt x="113635" y="2447912"/>
                  <a:pt x="0" y="2334277"/>
                  <a:pt x="0" y="2194102"/>
                </a:cubicBezTo>
                <a:lnTo>
                  <a:pt x="0" y="686715"/>
                </a:lnTo>
                <a:cubicBezTo>
                  <a:pt x="0" y="546540"/>
                  <a:pt x="113635" y="432905"/>
                  <a:pt x="253810" y="432905"/>
                </a:cubicBezTo>
                <a:lnTo>
                  <a:pt x="307082" y="432905"/>
                </a:lnTo>
                <a:lnTo>
                  <a:pt x="307082" y="313169"/>
                </a:lnTo>
                <a:cubicBezTo>
                  <a:pt x="307082" y="287995"/>
                  <a:pt x="327490" y="267587"/>
                  <a:pt x="352664" y="267587"/>
                </a:cubicBezTo>
                <a:lnTo>
                  <a:pt x="817888" y="267587"/>
                </a:lnTo>
                <a:cubicBezTo>
                  <a:pt x="843062" y="267587"/>
                  <a:pt x="863470" y="287995"/>
                  <a:pt x="863470" y="313169"/>
                </a:cubicBezTo>
                <a:lnTo>
                  <a:pt x="863470" y="432905"/>
                </a:lnTo>
                <a:lnTo>
                  <a:pt x="1361348" y="432905"/>
                </a:lnTo>
                <a:lnTo>
                  <a:pt x="1361348" y="91164"/>
                </a:lnTo>
                <a:cubicBezTo>
                  <a:pt x="1361348" y="40816"/>
                  <a:pt x="1402164" y="0"/>
                  <a:pt x="145251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14" name="TextBox 13">
            <a:extLst>
              <a:ext uri="{FF2B5EF4-FFF2-40B4-BE49-F238E27FC236}">
                <a16:creationId xmlns:a16="http://schemas.microsoft.com/office/drawing/2014/main" id="{8736D6C1-69E5-4213-AFBF-D1B39D9BBF7C}"/>
              </a:ext>
            </a:extLst>
          </p:cNvPr>
          <p:cNvSpPr txBox="1"/>
          <p:nvPr/>
        </p:nvSpPr>
        <p:spPr>
          <a:xfrm>
            <a:off x="355749" y="1275606"/>
            <a:ext cx="3471132" cy="3539430"/>
          </a:xfrm>
          <a:prstGeom prst="rect">
            <a:avLst/>
          </a:prstGeom>
          <a:noFill/>
        </p:spPr>
        <p:txBody>
          <a:bodyPr wrap="square" rtlCol="0" anchor="ctr">
            <a:spAutoFit/>
          </a:bodyPr>
          <a:lstStyle/>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sposobnost sticanja uvida, tj. razumevanje onog što je urađeno, od kojih delova se to što je urađeno sastoji, kako su ti delovi povezani i kako komuniciraju</a:t>
            </a:r>
          </a:p>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poslovni analitičari pomažu različitim stranama da razumeju jedni druge i kao rezultat dobiju implementaciju koja će zadovoljiti sve</a:t>
            </a:r>
          </a:p>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još jedan plus je i značaj aktivnosti poslovnog analitičara, jer rezultati rada poslovnog analitičara određuju sam tok projekta</a:t>
            </a:r>
          </a:p>
        </p:txBody>
      </p:sp>
      <p:sp>
        <p:nvSpPr>
          <p:cNvPr id="16" name="Text Placeholder 1">
            <a:extLst>
              <a:ext uri="{FF2B5EF4-FFF2-40B4-BE49-F238E27FC236}">
                <a16:creationId xmlns:a16="http://schemas.microsoft.com/office/drawing/2014/main" id="{13A7BB42-594D-46D0-8309-33649C2AD840}"/>
              </a:ext>
            </a:extLst>
          </p:cNvPr>
          <p:cNvSpPr txBox="1">
            <a:spLocks/>
          </p:cNvSpPr>
          <p:nvPr/>
        </p:nvSpPr>
        <p:spPr>
          <a:xfrm>
            <a:off x="565063" y="987574"/>
            <a:ext cx="3081532" cy="576064"/>
          </a:xfrm>
          <a:prstGeom prst="rect">
            <a:avLst/>
          </a:prstGeom>
        </p:spPr>
        <p:txBody>
          <a:bodyPr anchor="ctr"/>
          <a:lstStyle>
            <a:lvl1pPr marL="0" indent="0" algn="ctr" defTabSz="914400" rtl="0" eaLnBrk="1" latinLnBrk="1" hangingPunct="1">
              <a:spcBef>
                <a:spcPct val="20000"/>
              </a:spcBef>
              <a:buFont typeface="Arial" pitchFamily="34" charset="0"/>
              <a:buNone/>
              <a:defRPr sz="3600" b="0" kern="1200" baseline="0">
                <a:solidFill>
                  <a:schemeClr val="tx1">
                    <a:lumMod val="75000"/>
                    <a:lumOff val="25000"/>
                  </a:schemeClr>
                </a:solidFill>
                <a:latin typeface="+mj-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sr-Latn-RS" altLang="ko-KR" sz="1600" dirty="0">
                <a:solidFill>
                  <a:schemeClr val="tx2">
                    <a:lumMod val="75000"/>
                  </a:schemeClr>
                </a:solidFill>
              </a:rPr>
              <a:t>Dobre strane</a:t>
            </a:r>
            <a:endParaRPr lang="ko-KR" altLang="en-US" sz="1600" dirty="0">
              <a:solidFill>
                <a:schemeClr val="tx2">
                  <a:lumMod val="75000"/>
                </a:schemeClr>
              </a:solidFill>
            </a:endParaRPr>
          </a:p>
        </p:txBody>
      </p:sp>
      <p:sp>
        <p:nvSpPr>
          <p:cNvPr id="18" name="TextBox 17">
            <a:extLst>
              <a:ext uri="{FF2B5EF4-FFF2-40B4-BE49-F238E27FC236}">
                <a16:creationId xmlns:a16="http://schemas.microsoft.com/office/drawing/2014/main" id="{D8911480-D524-460E-87CF-A934C0821091}"/>
              </a:ext>
            </a:extLst>
          </p:cNvPr>
          <p:cNvSpPr txBox="1"/>
          <p:nvPr/>
        </p:nvSpPr>
        <p:spPr>
          <a:xfrm>
            <a:off x="5227409" y="1291228"/>
            <a:ext cx="3471132" cy="3539430"/>
          </a:xfrm>
          <a:prstGeom prst="rect">
            <a:avLst/>
          </a:prstGeom>
          <a:noFill/>
        </p:spPr>
        <p:txBody>
          <a:bodyPr wrap="square" rtlCol="0" anchor="ctr">
            <a:spAutoFit/>
          </a:bodyPr>
          <a:lstStyle/>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među nedostacima u obavljanju posla poslovnog analitičara svakako spadaju poteškoće u komunikaciji sa zainteresovanim stranama i generalna neophodnost prilagođavanja pri komunikaciji sa različitim klasama korisnika</a:t>
            </a:r>
          </a:p>
          <a:p>
            <a:pPr marL="285750" indent="-285750">
              <a:buFontTx/>
              <a:buChar char="-"/>
            </a:pPr>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potreba da se u kratkom vremenu prouče velike količine podataka</a:t>
            </a:r>
          </a:p>
          <a:p>
            <a:endParaRPr lang="sr-Latn-RS" altLang="ko-KR" sz="1400" dirty="0">
              <a:solidFill>
                <a:srgbClr val="17375E"/>
              </a:solidFill>
              <a:cs typeface="Arial" pitchFamily="34" charset="0"/>
            </a:endParaRPr>
          </a:p>
          <a:p>
            <a:pPr marL="285750" indent="-285750">
              <a:buFontTx/>
              <a:buChar char="-"/>
            </a:pPr>
            <a:r>
              <a:rPr lang="sr-Latn-RS" altLang="ko-KR" sz="1400" dirty="0">
                <a:solidFill>
                  <a:srgbClr val="17375E"/>
                </a:solidFill>
                <a:cs typeface="Arial" pitchFamily="34" charset="0"/>
              </a:rPr>
              <a:t>poslovni analitičar mora stalno biti u toku sa novim metodologijama, pristupima i proučavati osnovne principe novih platformi</a:t>
            </a:r>
          </a:p>
        </p:txBody>
      </p:sp>
      <p:sp>
        <p:nvSpPr>
          <p:cNvPr id="19" name="Text Placeholder 1">
            <a:extLst>
              <a:ext uri="{FF2B5EF4-FFF2-40B4-BE49-F238E27FC236}">
                <a16:creationId xmlns:a16="http://schemas.microsoft.com/office/drawing/2014/main" id="{D3559DFB-BAFA-45ED-ADB5-650CFF7F015F}"/>
              </a:ext>
            </a:extLst>
          </p:cNvPr>
          <p:cNvSpPr txBox="1">
            <a:spLocks/>
          </p:cNvSpPr>
          <p:nvPr/>
        </p:nvSpPr>
        <p:spPr>
          <a:xfrm>
            <a:off x="5422209" y="987574"/>
            <a:ext cx="3081532" cy="576064"/>
          </a:xfrm>
          <a:prstGeom prst="rect">
            <a:avLst/>
          </a:prstGeom>
        </p:spPr>
        <p:txBody>
          <a:bodyPr anchor="ctr"/>
          <a:lstStyle>
            <a:lvl1pPr marL="0" indent="0" algn="ctr" defTabSz="914400" rtl="0" eaLnBrk="1" latinLnBrk="1" hangingPunct="1">
              <a:spcBef>
                <a:spcPct val="20000"/>
              </a:spcBef>
              <a:buFont typeface="Arial" pitchFamily="34" charset="0"/>
              <a:buNone/>
              <a:defRPr sz="3600" b="0" kern="1200" baseline="0">
                <a:solidFill>
                  <a:schemeClr val="tx1">
                    <a:lumMod val="75000"/>
                    <a:lumOff val="25000"/>
                  </a:schemeClr>
                </a:solidFill>
                <a:latin typeface="+mj-lt"/>
                <a:ea typeface="+mn-ea"/>
                <a:cs typeface="Arial" pitchFamily="34" charset="0"/>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sr-Latn-RS" altLang="ko-KR" sz="1600" dirty="0">
                <a:solidFill>
                  <a:schemeClr val="tx2">
                    <a:lumMod val="75000"/>
                  </a:schemeClr>
                </a:solidFill>
              </a:rPr>
              <a:t>Loše strane</a:t>
            </a:r>
            <a:endParaRPr lang="ko-KR" altLang="en-US" sz="1600" dirty="0">
              <a:solidFill>
                <a:schemeClr val="tx2">
                  <a:lumMod val="75000"/>
                </a:schemeClr>
              </a:solidFill>
            </a:endParaRPr>
          </a:p>
        </p:txBody>
      </p:sp>
    </p:spTree>
    <p:extLst>
      <p:ext uri="{BB962C8B-B14F-4D97-AF65-F5344CB8AC3E}">
        <p14:creationId xmlns:p14="http://schemas.microsoft.com/office/powerpoint/2010/main" val="2879767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sr-Latn-RS" altLang="ko-KR" sz="2800" dirty="0">
                <a:solidFill>
                  <a:schemeClr val="tx2">
                    <a:lumMod val="75000"/>
                  </a:schemeClr>
                </a:solidFill>
              </a:rPr>
              <a:t>Hvala Vam na pažnji.</a:t>
            </a:r>
            <a:endParaRPr lang="ko-KR" altLang="en-US" sz="2800" dirty="0">
              <a:solidFill>
                <a:schemeClr val="tx2">
                  <a:lumMod val="75000"/>
                </a:schemeClr>
              </a:solidFill>
            </a:endParaRPr>
          </a:p>
        </p:txBody>
      </p:sp>
    </p:spTree>
    <p:extLst>
      <p:ext uri="{BB962C8B-B14F-4D97-AF65-F5344CB8AC3E}">
        <p14:creationId xmlns:p14="http://schemas.microsoft.com/office/powerpoint/2010/main" val="2923757830"/>
      </p:ext>
    </p:extLst>
  </p:cSld>
  <p:clrMapOvr>
    <a:masterClrMapping/>
  </p:clrMapOvr>
</p:sld>
</file>

<file path=ppt/theme/theme1.xml><?xml version="1.0" encoding="utf-8"?>
<a:theme xmlns:a="http://schemas.openxmlformats.org/drawingml/2006/main" name="Cover and End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COLOR-A30">
      <a:dk1>
        <a:sysClr val="windowText" lastClr="000000"/>
      </a:dk1>
      <a:lt1>
        <a:sysClr val="window" lastClr="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ection Break Slide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2332</TotalTime>
  <Words>2127</Words>
  <Application>Microsoft Office PowerPoint</Application>
  <PresentationFormat>On-screen Show (16:9)</PresentationFormat>
  <Paragraphs>164</Paragraphs>
  <Slides>20</Slides>
  <Notes>0</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20</vt:i4>
      </vt:variant>
    </vt:vector>
  </HeadingPairs>
  <TitlesOfParts>
    <vt:vector size="25" baseType="lpstr">
      <vt:lpstr>Arial</vt:lpstr>
      <vt:lpstr>Times New Roman</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Dr Oetker</cp:lastModifiedBy>
  <cp:revision>172</cp:revision>
  <dcterms:created xsi:type="dcterms:W3CDTF">2016-12-05T23:26:54Z</dcterms:created>
  <dcterms:modified xsi:type="dcterms:W3CDTF">2021-02-12T04:27:28Z</dcterms:modified>
</cp:coreProperties>
</file>